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19"/>
  </p:notesMasterIdLst>
  <p:handoutMasterIdLst>
    <p:handoutMasterId r:id="rId20"/>
  </p:handoutMasterIdLst>
  <p:sldIdLst>
    <p:sldId id="1536" r:id="rId5"/>
    <p:sldId id="1537" r:id="rId6"/>
    <p:sldId id="1523" r:id="rId7"/>
    <p:sldId id="1524" r:id="rId8"/>
    <p:sldId id="1525" r:id="rId9"/>
    <p:sldId id="1532" r:id="rId10"/>
    <p:sldId id="1533" r:id="rId11"/>
    <p:sldId id="1534" r:id="rId12"/>
    <p:sldId id="1522" r:id="rId13"/>
    <p:sldId id="1527" r:id="rId14"/>
    <p:sldId id="1528" r:id="rId15"/>
    <p:sldId id="1535" r:id="rId16"/>
    <p:sldId id="1530" r:id="rId17"/>
    <p:sldId id="153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E7FF"/>
    <a:srgbClr val="BF6093"/>
    <a:srgbClr val="F2C67B"/>
    <a:srgbClr val="33E6CC"/>
    <a:srgbClr val="529699"/>
    <a:srgbClr val="004D4E"/>
    <a:srgbClr val="0D948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1F8BF1-9997-4735-8BF6-595E304CCEA2}" type="doc">
      <dgm:prSet loTypeId="urn:microsoft.com/office/officeart/2005/8/layout/process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C720E18-A36C-4E57-B117-D7E5A1F5372D}">
      <dgm:prSet phldrT="[Text]" phldr="0"/>
      <dgm:spPr/>
      <dgm:t>
        <a:bodyPr/>
        <a:lstStyle/>
        <a:p>
          <a:r>
            <a:rPr lang="en-US" b="1">
              <a:latin typeface="Bahnschrift" panose="020B0502040204020203" pitchFamily="34" charset="0"/>
            </a:rPr>
            <a:t>Collect</a:t>
          </a:r>
        </a:p>
      </dgm:t>
    </dgm:pt>
    <dgm:pt modelId="{0DEE3C90-F92A-4C39-A249-C096678191C9}" type="parTrans" cxnId="{89CE4D14-C0CF-4B25-88EB-829D1D018D42}">
      <dgm:prSet/>
      <dgm:spPr/>
      <dgm:t>
        <a:bodyPr/>
        <a:lstStyle/>
        <a:p>
          <a:endParaRPr lang="en-US"/>
        </a:p>
      </dgm:t>
    </dgm:pt>
    <dgm:pt modelId="{E7A9F33B-7D3C-48EE-BFE4-075890DDB9AA}" type="sibTrans" cxnId="{89CE4D14-C0CF-4B25-88EB-829D1D018D42}">
      <dgm:prSet phldrT="1" phldr="0"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2FB1DE66-0C48-4CF2-9F2F-9BFDF46CF65C}">
      <dgm:prSet phldrT="[Text]" phldr="0"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Pull real moderated content from two open platforms: Bluesky and Lemmy</a:t>
          </a:r>
        </a:p>
      </dgm:t>
    </dgm:pt>
    <dgm:pt modelId="{9EF3D385-4ED5-4A47-844B-641C330B77C6}" type="parTrans" cxnId="{C57A4E4F-DECF-483C-9DC8-B8AED30BFD1E}">
      <dgm:prSet/>
      <dgm:spPr/>
      <dgm:t>
        <a:bodyPr/>
        <a:lstStyle/>
        <a:p>
          <a:endParaRPr lang="en-US"/>
        </a:p>
      </dgm:t>
    </dgm:pt>
    <dgm:pt modelId="{0813CFC2-81AC-4F6B-A85B-972CCC6C0CF5}" type="sibTrans" cxnId="{C57A4E4F-DECF-483C-9DC8-B8AED30BFD1E}">
      <dgm:prSet/>
      <dgm:spPr/>
      <dgm:t>
        <a:bodyPr/>
        <a:lstStyle/>
        <a:p>
          <a:endParaRPr lang="en-US"/>
        </a:p>
      </dgm:t>
    </dgm:pt>
    <dgm:pt modelId="{C73F3AE9-AB22-4BD2-9C9A-2F213A5ED0E4}">
      <dgm:prSet phldrT="[Text]" phldr="0"/>
      <dgm:spPr/>
      <dgm:t>
        <a:bodyPr/>
        <a:lstStyle/>
        <a:p>
          <a:r>
            <a:rPr lang="en-US" b="1">
              <a:latin typeface="Bahnschrift" panose="020B0502040204020203" pitchFamily="34" charset="0"/>
            </a:rPr>
            <a:t>Simulate</a:t>
          </a:r>
        </a:p>
      </dgm:t>
    </dgm:pt>
    <dgm:pt modelId="{6A3DE8B0-48F5-4EE2-B26F-1314D62C5714}" type="parTrans" cxnId="{8F189B33-59F6-43E5-8715-9EFBA152F4DA}">
      <dgm:prSet/>
      <dgm:spPr/>
      <dgm:t>
        <a:bodyPr/>
        <a:lstStyle/>
        <a:p>
          <a:endParaRPr lang="en-US"/>
        </a:p>
      </dgm:t>
    </dgm:pt>
    <dgm:pt modelId="{630DE139-CCAE-4F1B-B5BB-5CE21823727D}" type="sibTrans" cxnId="{8F189B33-59F6-43E5-8715-9EFBA152F4DA}">
      <dgm:prSet phldrT="2" phldr="0"/>
      <dgm:spPr/>
      <dgm:t>
        <a:bodyPr/>
        <a:lstStyle/>
        <a:p>
          <a:endParaRPr lang="en-US">
            <a:latin typeface="Bahnschrift" panose="020B0502040204020203" pitchFamily="34" charset="0"/>
          </a:endParaRPr>
        </a:p>
      </dgm:t>
    </dgm:pt>
    <dgm:pt modelId="{7845BCDA-7C54-437B-8AC1-A58FFF9A583B}">
      <dgm:prSet phldrT="[Text]" phldr="0"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Apply X and Meta policy texts as prompts to a local LLM. Judge the same content pulled.</a:t>
          </a:r>
        </a:p>
      </dgm:t>
    </dgm:pt>
    <dgm:pt modelId="{7D92AB0F-C970-4C74-879E-1A8EA5BCF51E}" type="parTrans" cxnId="{9E47D948-1E9D-40D6-BDFB-5C5C3F9B84D6}">
      <dgm:prSet/>
      <dgm:spPr/>
      <dgm:t>
        <a:bodyPr/>
        <a:lstStyle/>
        <a:p>
          <a:endParaRPr lang="en-US"/>
        </a:p>
      </dgm:t>
    </dgm:pt>
    <dgm:pt modelId="{4741D509-7BD2-4FAE-938A-032B219D6BFC}" type="sibTrans" cxnId="{9E47D948-1E9D-40D6-BDFB-5C5C3F9B84D6}">
      <dgm:prSet/>
      <dgm:spPr/>
      <dgm:t>
        <a:bodyPr/>
        <a:lstStyle/>
        <a:p>
          <a:endParaRPr lang="en-US"/>
        </a:p>
      </dgm:t>
    </dgm:pt>
    <dgm:pt modelId="{A45F4F65-8E2F-465C-A971-5CF84C108970}">
      <dgm:prSet phldrT="[Text]" phldr="0"/>
      <dgm:spPr/>
      <dgm:t>
        <a:bodyPr/>
        <a:lstStyle/>
        <a:p>
          <a:r>
            <a:rPr lang="en-US" b="1">
              <a:latin typeface="Bahnschrift" panose="020B0502040204020203" pitchFamily="34" charset="0"/>
            </a:rPr>
            <a:t>Compare</a:t>
          </a:r>
        </a:p>
      </dgm:t>
    </dgm:pt>
    <dgm:pt modelId="{5BD3D489-1216-4DC5-A0A2-C2083D73E480}" type="parTrans" cxnId="{424A0BAE-BC4A-4EF6-99DA-DF3B91977104}">
      <dgm:prSet/>
      <dgm:spPr/>
      <dgm:t>
        <a:bodyPr/>
        <a:lstStyle/>
        <a:p>
          <a:endParaRPr lang="en-US"/>
        </a:p>
      </dgm:t>
    </dgm:pt>
    <dgm:pt modelId="{CC68D12A-85CB-4A34-9743-C6319EDEC2C4}" type="sibTrans" cxnId="{424A0BAE-BC4A-4EF6-99DA-DF3B91977104}">
      <dgm:prSet phldrT="3" phldr="0"/>
      <dgm:spPr/>
      <dgm:t>
        <a:bodyPr/>
        <a:lstStyle/>
        <a:p>
          <a:endParaRPr lang="en-US"/>
        </a:p>
      </dgm:t>
    </dgm:pt>
    <dgm:pt modelId="{9D554549-CC23-40C7-A0D9-549D556E4C16}">
      <dgm:prSet phldrT="[Text]" phldr="0"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Measure divergence: Platform action vs LLM verdict</a:t>
          </a:r>
        </a:p>
      </dgm:t>
    </dgm:pt>
    <dgm:pt modelId="{1F495FDA-8256-4C96-AF66-251AE5809B47}" type="parTrans" cxnId="{790CB787-097F-428C-9C34-70ADEE3A8762}">
      <dgm:prSet/>
      <dgm:spPr/>
      <dgm:t>
        <a:bodyPr/>
        <a:lstStyle/>
        <a:p>
          <a:endParaRPr lang="en-US"/>
        </a:p>
      </dgm:t>
    </dgm:pt>
    <dgm:pt modelId="{D6707E7D-4345-4CFA-B57F-9345FB426992}" type="sibTrans" cxnId="{790CB787-097F-428C-9C34-70ADEE3A8762}">
      <dgm:prSet/>
      <dgm:spPr/>
      <dgm:t>
        <a:bodyPr/>
        <a:lstStyle/>
        <a:p>
          <a:endParaRPr lang="en-US"/>
        </a:p>
      </dgm:t>
    </dgm:pt>
    <dgm:pt modelId="{C93973D4-B2AE-43D6-B094-65048C5C6061}" type="pres">
      <dgm:prSet presAssocID="{F41F8BF1-9997-4735-8BF6-595E304CCEA2}" presName="Name0" presStyleCnt="0">
        <dgm:presLayoutVars>
          <dgm:dir/>
          <dgm:resizeHandles val="exact"/>
        </dgm:presLayoutVars>
      </dgm:prSet>
      <dgm:spPr/>
    </dgm:pt>
    <dgm:pt modelId="{5CBCC809-05E9-4A13-8C39-6D1C794C6928}" type="pres">
      <dgm:prSet presAssocID="{9C720E18-A36C-4E57-B117-D7E5A1F5372D}" presName="node" presStyleLbl="node1" presStyleIdx="0" presStyleCnt="3" custLinFactNeighborX="8861">
        <dgm:presLayoutVars>
          <dgm:bulletEnabled val="1"/>
        </dgm:presLayoutVars>
      </dgm:prSet>
      <dgm:spPr/>
    </dgm:pt>
    <dgm:pt modelId="{6A996E88-5F70-4FC2-B30A-69E7D0DCD275}" type="pres">
      <dgm:prSet presAssocID="{E7A9F33B-7D3C-48EE-BFE4-075890DDB9AA}" presName="sibTrans" presStyleLbl="sibTrans2D1" presStyleIdx="0" presStyleCnt="2"/>
      <dgm:spPr/>
    </dgm:pt>
    <dgm:pt modelId="{3C747FBA-7F68-4747-AC79-5DFDEEB34CE6}" type="pres">
      <dgm:prSet presAssocID="{E7A9F33B-7D3C-48EE-BFE4-075890DDB9AA}" presName="connectorText" presStyleLbl="sibTrans2D1" presStyleIdx="0" presStyleCnt="2"/>
      <dgm:spPr/>
    </dgm:pt>
    <dgm:pt modelId="{0EF6B37C-5FEF-4D32-9670-ECDD0613E242}" type="pres">
      <dgm:prSet presAssocID="{C73F3AE9-AB22-4BD2-9C9A-2F213A5ED0E4}" presName="node" presStyleLbl="node1" presStyleIdx="1" presStyleCnt="3">
        <dgm:presLayoutVars>
          <dgm:bulletEnabled val="1"/>
        </dgm:presLayoutVars>
      </dgm:prSet>
      <dgm:spPr/>
    </dgm:pt>
    <dgm:pt modelId="{F899743C-A0CF-4100-8DA6-217B2E8FD9EB}" type="pres">
      <dgm:prSet presAssocID="{630DE139-CCAE-4F1B-B5BB-5CE21823727D}" presName="sibTrans" presStyleLbl="sibTrans2D1" presStyleIdx="1" presStyleCnt="2"/>
      <dgm:spPr/>
    </dgm:pt>
    <dgm:pt modelId="{83C33B35-ED40-4696-871C-4EF2692EC1F2}" type="pres">
      <dgm:prSet presAssocID="{630DE139-CCAE-4F1B-B5BB-5CE21823727D}" presName="connectorText" presStyleLbl="sibTrans2D1" presStyleIdx="1" presStyleCnt="2"/>
      <dgm:spPr/>
    </dgm:pt>
    <dgm:pt modelId="{21039642-8178-44BB-A012-1406803C9404}" type="pres">
      <dgm:prSet presAssocID="{A45F4F65-8E2F-465C-A971-5CF84C108970}" presName="node" presStyleLbl="node1" presStyleIdx="2" presStyleCnt="3">
        <dgm:presLayoutVars>
          <dgm:bulletEnabled val="1"/>
        </dgm:presLayoutVars>
      </dgm:prSet>
      <dgm:spPr/>
    </dgm:pt>
  </dgm:ptLst>
  <dgm:cxnLst>
    <dgm:cxn modelId="{89CE4D14-C0CF-4B25-88EB-829D1D018D42}" srcId="{F41F8BF1-9997-4735-8BF6-595E304CCEA2}" destId="{9C720E18-A36C-4E57-B117-D7E5A1F5372D}" srcOrd="0" destOrd="0" parTransId="{0DEE3C90-F92A-4C39-A249-C096678191C9}" sibTransId="{E7A9F33B-7D3C-48EE-BFE4-075890DDB9AA}"/>
    <dgm:cxn modelId="{8F189B33-59F6-43E5-8715-9EFBA152F4DA}" srcId="{F41F8BF1-9997-4735-8BF6-595E304CCEA2}" destId="{C73F3AE9-AB22-4BD2-9C9A-2F213A5ED0E4}" srcOrd="1" destOrd="0" parTransId="{6A3DE8B0-48F5-4EE2-B26F-1314D62C5714}" sibTransId="{630DE139-CCAE-4F1B-B5BB-5CE21823727D}"/>
    <dgm:cxn modelId="{4820443C-8AE7-49B6-80F2-93FD9086B0F3}" type="presOf" srcId="{F41F8BF1-9997-4735-8BF6-595E304CCEA2}" destId="{C93973D4-B2AE-43D6-B094-65048C5C6061}" srcOrd="0" destOrd="0" presId="urn:microsoft.com/office/officeart/2005/8/layout/process1"/>
    <dgm:cxn modelId="{35AFF242-6BF7-48DE-AF61-FECEA694FEA5}" type="presOf" srcId="{630DE139-CCAE-4F1B-B5BB-5CE21823727D}" destId="{F899743C-A0CF-4100-8DA6-217B2E8FD9EB}" srcOrd="0" destOrd="0" presId="urn:microsoft.com/office/officeart/2005/8/layout/process1"/>
    <dgm:cxn modelId="{3867CA43-BC02-410E-9B56-A63E93354CF0}" type="presOf" srcId="{9C720E18-A36C-4E57-B117-D7E5A1F5372D}" destId="{5CBCC809-05E9-4A13-8C39-6D1C794C6928}" srcOrd="0" destOrd="0" presId="urn:microsoft.com/office/officeart/2005/8/layout/process1"/>
    <dgm:cxn modelId="{9E47D948-1E9D-40D6-BDFB-5C5C3F9B84D6}" srcId="{C73F3AE9-AB22-4BD2-9C9A-2F213A5ED0E4}" destId="{7845BCDA-7C54-437B-8AC1-A58FFF9A583B}" srcOrd="0" destOrd="0" parTransId="{7D92AB0F-C970-4C74-879E-1A8EA5BCF51E}" sibTransId="{4741D509-7BD2-4FAE-938A-032B219D6BFC}"/>
    <dgm:cxn modelId="{C57A4E4F-DECF-483C-9DC8-B8AED30BFD1E}" srcId="{9C720E18-A36C-4E57-B117-D7E5A1F5372D}" destId="{2FB1DE66-0C48-4CF2-9F2F-9BFDF46CF65C}" srcOrd="0" destOrd="0" parTransId="{9EF3D385-4ED5-4A47-844B-641C330B77C6}" sibTransId="{0813CFC2-81AC-4F6B-A85B-972CCC6C0CF5}"/>
    <dgm:cxn modelId="{4F850F75-2733-4F05-9133-7DE6E67E471E}" type="presOf" srcId="{9D554549-CC23-40C7-A0D9-549D556E4C16}" destId="{21039642-8178-44BB-A012-1406803C9404}" srcOrd="0" destOrd="1" presId="urn:microsoft.com/office/officeart/2005/8/layout/process1"/>
    <dgm:cxn modelId="{1E4CC858-305B-493D-9EE0-B31E86E99A21}" type="presOf" srcId="{7845BCDA-7C54-437B-8AC1-A58FFF9A583B}" destId="{0EF6B37C-5FEF-4D32-9670-ECDD0613E242}" srcOrd="0" destOrd="1" presId="urn:microsoft.com/office/officeart/2005/8/layout/process1"/>
    <dgm:cxn modelId="{A6CF4483-72EF-46CB-931C-AAAB19BD2FD2}" type="presOf" srcId="{E7A9F33B-7D3C-48EE-BFE4-075890DDB9AA}" destId="{6A996E88-5F70-4FC2-B30A-69E7D0DCD275}" srcOrd="0" destOrd="0" presId="urn:microsoft.com/office/officeart/2005/8/layout/process1"/>
    <dgm:cxn modelId="{790CB787-097F-428C-9C34-70ADEE3A8762}" srcId="{A45F4F65-8E2F-465C-A971-5CF84C108970}" destId="{9D554549-CC23-40C7-A0D9-549D556E4C16}" srcOrd="0" destOrd="0" parTransId="{1F495FDA-8256-4C96-AF66-251AE5809B47}" sibTransId="{D6707E7D-4345-4CFA-B57F-9345FB426992}"/>
    <dgm:cxn modelId="{E94821A0-29FD-43F8-AC71-6672A85016DB}" type="presOf" srcId="{630DE139-CCAE-4F1B-B5BB-5CE21823727D}" destId="{83C33B35-ED40-4696-871C-4EF2692EC1F2}" srcOrd="1" destOrd="0" presId="urn:microsoft.com/office/officeart/2005/8/layout/process1"/>
    <dgm:cxn modelId="{424A0BAE-BC4A-4EF6-99DA-DF3B91977104}" srcId="{F41F8BF1-9997-4735-8BF6-595E304CCEA2}" destId="{A45F4F65-8E2F-465C-A971-5CF84C108970}" srcOrd="2" destOrd="0" parTransId="{5BD3D489-1216-4DC5-A0A2-C2083D73E480}" sibTransId="{CC68D12A-85CB-4A34-9743-C6319EDEC2C4}"/>
    <dgm:cxn modelId="{A4B31CC2-7EAC-4D54-940B-EDD1E7B329E6}" type="presOf" srcId="{2FB1DE66-0C48-4CF2-9F2F-9BFDF46CF65C}" destId="{5CBCC809-05E9-4A13-8C39-6D1C794C6928}" srcOrd="0" destOrd="1" presId="urn:microsoft.com/office/officeart/2005/8/layout/process1"/>
    <dgm:cxn modelId="{BE597FC2-93B1-4C7C-B771-D2CB9298C261}" type="presOf" srcId="{C73F3AE9-AB22-4BD2-9C9A-2F213A5ED0E4}" destId="{0EF6B37C-5FEF-4D32-9670-ECDD0613E242}" srcOrd="0" destOrd="0" presId="urn:microsoft.com/office/officeart/2005/8/layout/process1"/>
    <dgm:cxn modelId="{CF5238C6-7BAA-413C-A990-97FA33862832}" type="presOf" srcId="{A45F4F65-8E2F-465C-A971-5CF84C108970}" destId="{21039642-8178-44BB-A012-1406803C9404}" srcOrd="0" destOrd="0" presId="urn:microsoft.com/office/officeart/2005/8/layout/process1"/>
    <dgm:cxn modelId="{0C4E29EB-2788-4EAE-B9CD-450379BC1A72}" type="presOf" srcId="{E7A9F33B-7D3C-48EE-BFE4-075890DDB9AA}" destId="{3C747FBA-7F68-4747-AC79-5DFDEEB34CE6}" srcOrd="1" destOrd="0" presId="urn:microsoft.com/office/officeart/2005/8/layout/process1"/>
    <dgm:cxn modelId="{D293C48A-FF53-4923-8495-B9426763FE55}" type="presParOf" srcId="{C93973D4-B2AE-43D6-B094-65048C5C6061}" destId="{5CBCC809-05E9-4A13-8C39-6D1C794C6928}" srcOrd="0" destOrd="0" presId="urn:microsoft.com/office/officeart/2005/8/layout/process1"/>
    <dgm:cxn modelId="{093965FB-165D-4CC4-B019-525BE18A0123}" type="presParOf" srcId="{C93973D4-B2AE-43D6-B094-65048C5C6061}" destId="{6A996E88-5F70-4FC2-B30A-69E7D0DCD275}" srcOrd="1" destOrd="0" presId="urn:microsoft.com/office/officeart/2005/8/layout/process1"/>
    <dgm:cxn modelId="{1A007CCC-579D-4587-A898-6BBC4DE6169B}" type="presParOf" srcId="{6A996E88-5F70-4FC2-B30A-69E7D0DCD275}" destId="{3C747FBA-7F68-4747-AC79-5DFDEEB34CE6}" srcOrd="0" destOrd="0" presId="urn:microsoft.com/office/officeart/2005/8/layout/process1"/>
    <dgm:cxn modelId="{4D7C4279-6520-4847-9DAB-7DB38107C547}" type="presParOf" srcId="{C93973D4-B2AE-43D6-B094-65048C5C6061}" destId="{0EF6B37C-5FEF-4D32-9670-ECDD0613E242}" srcOrd="2" destOrd="0" presId="urn:microsoft.com/office/officeart/2005/8/layout/process1"/>
    <dgm:cxn modelId="{877202D5-E6BF-4CFA-A043-E63E5031663E}" type="presParOf" srcId="{C93973D4-B2AE-43D6-B094-65048C5C6061}" destId="{F899743C-A0CF-4100-8DA6-217B2E8FD9EB}" srcOrd="3" destOrd="0" presId="urn:microsoft.com/office/officeart/2005/8/layout/process1"/>
    <dgm:cxn modelId="{BFA5FDD7-4EFF-4829-A7A2-19ACC78516D2}" type="presParOf" srcId="{F899743C-A0CF-4100-8DA6-217B2E8FD9EB}" destId="{83C33B35-ED40-4696-871C-4EF2692EC1F2}" srcOrd="0" destOrd="0" presId="urn:microsoft.com/office/officeart/2005/8/layout/process1"/>
    <dgm:cxn modelId="{7CC39225-0792-4EB0-91AD-90805F06B516}" type="presParOf" srcId="{C93973D4-B2AE-43D6-B094-65048C5C6061}" destId="{21039642-8178-44BB-A012-1406803C940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CC809-05E9-4A13-8C39-6D1C794C6928}">
      <dsp:nvSpPr>
        <dsp:cNvPr id="0" name=""/>
        <dsp:cNvSpPr/>
      </dsp:nvSpPr>
      <dsp:spPr>
        <a:xfrm>
          <a:off x="88377" y="688090"/>
          <a:ext cx="2278365" cy="13670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Bahnschrift" panose="020B0502040204020203" pitchFamily="34" charset="0"/>
            </a:rPr>
            <a:t>Collect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Bahnschrift" panose="020B0502040204020203" pitchFamily="34" charset="0"/>
            </a:rPr>
            <a:t>Pull real moderated content from two open platforms: Bluesky and Lemmy</a:t>
          </a:r>
        </a:p>
      </dsp:txBody>
      <dsp:txXfrm>
        <a:off x="128416" y="728129"/>
        <a:ext cx="2198287" cy="1286941"/>
      </dsp:txXfrm>
    </dsp:sp>
    <dsp:sp modelId="{6A996E88-5F70-4FC2-B30A-69E7D0DCD275}">
      <dsp:nvSpPr>
        <dsp:cNvPr id="0" name=""/>
        <dsp:cNvSpPr/>
      </dsp:nvSpPr>
      <dsp:spPr>
        <a:xfrm>
          <a:off x="2574390" y="1089082"/>
          <a:ext cx="440213" cy="56503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Bahnschrift" panose="020B0502040204020203" pitchFamily="34" charset="0"/>
          </a:endParaRPr>
        </a:p>
      </dsp:txBody>
      <dsp:txXfrm>
        <a:off x="2574390" y="1202089"/>
        <a:ext cx="308149" cy="339020"/>
      </dsp:txXfrm>
    </dsp:sp>
    <dsp:sp modelId="{0EF6B37C-5FEF-4D32-9670-ECDD0613E242}">
      <dsp:nvSpPr>
        <dsp:cNvPr id="0" name=""/>
        <dsp:cNvSpPr/>
      </dsp:nvSpPr>
      <dsp:spPr>
        <a:xfrm>
          <a:off x="3197334" y="688090"/>
          <a:ext cx="2278365" cy="13670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Bahnschrift" panose="020B0502040204020203" pitchFamily="34" charset="0"/>
            </a:rPr>
            <a:t>Simulate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Bahnschrift" panose="020B0502040204020203" pitchFamily="34" charset="0"/>
            </a:rPr>
            <a:t>Apply X and Meta policy texts as prompts to a local LLM. Judge the same content pulled.</a:t>
          </a:r>
        </a:p>
      </dsp:txBody>
      <dsp:txXfrm>
        <a:off x="3237373" y="728129"/>
        <a:ext cx="2198287" cy="1286941"/>
      </dsp:txXfrm>
    </dsp:sp>
    <dsp:sp modelId="{F899743C-A0CF-4100-8DA6-217B2E8FD9EB}">
      <dsp:nvSpPr>
        <dsp:cNvPr id="0" name=""/>
        <dsp:cNvSpPr/>
      </dsp:nvSpPr>
      <dsp:spPr>
        <a:xfrm>
          <a:off x="5703536" y="1089082"/>
          <a:ext cx="483013" cy="56503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>
            <a:latin typeface="Bahnschrift" panose="020B0502040204020203" pitchFamily="34" charset="0"/>
          </a:endParaRPr>
        </a:p>
      </dsp:txBody>
      <dsp:txXfrm>
        <a:off x="5703536" y="1202089"/>
        <a:ext cx="338109" cy="339020"/>
      </dsp:txXfrm>
    </dsp:sp>
    <dsp:sp modelId="{21039642-8178-44BB-A012-1406803C9404}">
      <dsp:nvSpPr>
        <dsp:cNvPr id="0" name=""/>
        <dsp:cNvSpPr/>
      </dsp:nvSpPr>
      <dsp:spPr>
        <a:xfrm>
          <a:off x="6387045" y="688090"/>
          <a:ext cx="2278365" cy="136701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Bahnschrift" panose="020B0502040204020203" pitchFamily="34" charset="0"/>
            </a:rPr>
            <a:t>Compare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latin typeface="Bahnschrift" panose="020B0502040204020203" pitchFamily="34" charset="0"/>
            </a:rPr>
            <a:t>Measure divergence: Platform action vs LLM verdict</a:t>
          </a:r>
        </a:p>
      </dsp:txBody>
      <dsp:txXfrm>
        <a:off x="6427084" y="728129"/>
        <a:ext cx="2198287" cy="1286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20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46100-86BF-D325-C0F3-7CA8EFD2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726B0-98C9-5AFD-F327-C3507216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59D92-8307-0572-2A16-FE562C2F3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vegan activist account that posts pre-made graphic infographics linking animal cruelty news stories to child abuse imagery. Each post uses the </a:t>
            </a:r>
            <a:r>
              <a:rPr lang="en-US" b="1"/>
              <a:t>same hashtag template</a:t>
            </a:r>
            <a:r>
              <a:rPr lang="en-US"/>
              <a:t> with location-specific variations.</a:t>
            </a:r>
          </a:p>
          <a:p>
            <a:r>
              <a:rPr lang="en-US"/>
              <a:t>One user reply-spamming the same paragraph about a Haiti immigrant violence video to multiple different accounts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3F14-D39A-15F6-B91E-336296AF3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91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0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openxmlformats.org/officeDocument/2006/relationships/image" Target="../media/image18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1421446"/>
          </a:xfrm>
        </p:spPr>
        <p:txBody>
          <a:bodyPr/>
          <a:lstStyle/>
          <a:p>
            <a:r>
              <a:rPr lang="en-US" sz="3600" u="none">
                <a:solidFill>
                  <a:srgbClr val="FFFFFF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Cross Platform Content Moderation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CC6B-C7FD-0935-2022-57CCC9D64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423160"/>
            <a:ext cx="5652464" cy="1719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+mj-lt"/>
              </a:rPr>
              <a:t>Comparing platform decisions against LLM applied policies</a:t>
            </a:r>
          </a:p>
          <a:p>
            <a:pPr marL="0" indent="0">
              <a:buNone/>
            </a:pPr>
            <a:endParaRPr lang="en-US" b="1">
              <a:latin typeface="+mj-lt"/>
            </a:endParaRPr>
          </a:p>
          <a:p>
            <a:pPr marL="0" indent="0">
              <a:buNone/>
            </a:pPr>
            <a:r>
              <a:rPr lang="en-US" b="1">
                <a:latin typeface="+mj-lt"/>
              </a:rPr>
              <a:t>Ari Munkhtur </a:t>
            </a:r>
          </a:p>
          <a:p>
            <a:pPr marL="0" indent="0">
              <a:buNone/>
            </a:pPr>
            <a:r>
              <a:rPr lang="en-US" b="1">
                <a:latin typeface="+mj-lt"/>
              </a:rPr>
              <a:t>Jayesh Bane 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43F367A-8F73-02A1-FF93-89764973A31C}"/>
              </a:ext>
            </a:extLst>
          </p:cNvPr>
          <p:cNvSpPr/>
          <p:nvPr/>
        </p:nvSpPr>
        <p:spPr>
          <a:xfrm>
            <a:off x="768096" y="448056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chemeClr val="tx1">
                    <a:lumMod val="95000"/>
                  </a:schemeClr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DSCI-511 TERM PROJECT</a:t>
            </a:r>
            <a:endParaRPr lang="en-US" sz="1400">
              <a:solidFill>
                <a:schemeClr val="tx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1725FA72-AE85-00AE-9EBE-461176E88809}"/>
              </a:ext>
            </a:extLst>
          </p:cNvPr>
          <p:cNvSpPr/>
          <p:nvPr/>
        </p:nvSpPr>
        <p:spPr>
          <a:xfrm>
            <a:off x="768096" y="3276506"/>
            <a:ext cx="5327904" cy="6189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>
              <a:latin typeface="Bahnschrift" panose="020B0502040204020203" pitchFamily="34" charset="0"/>
            </a:endParaRPr>
          </a:p>
        </p:txBody>
      </p:sp>
      <p:pic>
        <p:nvPicPr>
          <p:cNvPr id="19" name="Picture 6" descr="Gemma with Ollama — small and private LLM | by Balazs Kocsis | Medium">
            <a:extLst>
              <a:ext uri="{FF2B5EF4-FFF2-40B4-BE49-F238E27FC236}">
                <a16:creationId xmlns:a16="http://schemas.microsoft.com/office/drawing/2014/main" id="{416AC829-4B3A-7DFC-63DA-F36AA59D7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549" y="4634085"/>
            <a:ext cx="4102391" cy="11673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5">
            <a:extLst>
              <a:ext uri="{FF2B5EF4-FFF2-40B4-BE49-F238E27FC236}">
                <a16:creationId xmlns:a16="http://schemas.microsoft.com/office/drawing/2014/main" id="{97152B83-72AD-FACA-8C63-C30C815D9BC5}"/>
              </a:ext>
            </a:extLst>
          </p:cNvPr>
          <p:cNvSpPr/>
          <p:nvPr/>
        </p:nvSpPr>
        <p:spPr>
          <a:xfrm>
            <a:off x="346483" y="4573138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0E3A44"/>
          </a:solidFill>
          <a:ln w="12700">
            <a:solidFill>
              <a:srgbClr val="1E5F6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5902548-3270-2F3F-AB36-88FD16281D56}"/>
              </a:ext>
            </a:extLst>
          </p:cNvPr>
          <p:cNvSpPr/>
          <p:nvPr/>
        </p:nvSpPr>
        <p:spPr>
          <a:xfrm>
            <a:off x="346483" y="4573138"/>
            <a:ext cx="91440" cy="1234440"/>
          </a:xfrm>
          <a:prstGeom prst="roundRect">
            <a:avLst>
              <a:gd name="adj" fmla="val 50000"/>
            </a:avLst>
          </a:prstGeom>
          <a:solidFill>
            <a:srgbClr val="33E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4BF22D-C84D-6FE8-B6CE-232BB9660BDE}"/>
              </a:ext>
            </a:extLst>
          </p:cNvPr>
          <p:cNvSpPr/>
          <p:nvPr/>
        </p:nvSpPr>
        <p:spPr>
          <a:xfrm>
            <a:off x="483643" y="473773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33E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4,164</a:t>
            </a:r>
            <a:endParaRPr lang="en-US" sz="300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04C8761-5FE4-E2ED-BF6C-343AA19F0883}"/>
              </a:ext>
            </a:extLst>
          </p:cNvPr>
          <p:cNvSpPr/>
          <p:nvPr/>
        </p:nvSpPr>
        <p:spPr>
          <a:xfrm>
            <a:off x="483643" y="532294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>
                <a:solidFill>
                  <a:srgbClr val="9FB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COLLECTED</a:t>
            </a:r>
            <a:endParaRPr lang="en-US" sz="110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393A9F6-F7D1-F6C2-E4E4-F107FD98A4E3}"/>
              </a:ext>
            </a:extLst>
          </p:cNvPr>
          <p:cNvSpPr/>
          <p:nvPr/>
        </p:nvSpPr>
        <p:spPr>
          <a:xfrm>
            <a:off x="2678203" y="4573138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0E3A44"/>
          </a:solidFill>
          <a:ln w="12700">
            <a:solidFill>
              <a:srgbClr val="1E5F6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48C60E15-BE5C-1FA3-8CEB-FEDB7BC98CA8}"/>
              </a:ext>
            </a:extLst>
          </p:cNvPr>
          <p:cNvSpPr/>
          <p:nvPr/>
        </p:nvSpPr>
        <p:spPr>
          <a:xfrm>
            <a:off x="2678203" y="4573138"/>
            <a:ext cx="91440" cy="1234440"/>
          </a:xfrm>
          <a:prstGeom prst="roundRect">
            <a:avLst>
              <a:gd name="adj" fmla="val 50000"/>
            </a:avLst>
          </a:prstGeom>
          <a:solidFill>
            <a:srgbClr val="F4B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E9AEF0FE-7B1C-D06C-AF19-C17B47CEAAA2}"/>
              </a:ext>
            </a:extLst>
          </p:cNvPr>
          <p:cNvSpPr/>
          <p:nvPr/>
        </p:nvSpPr>
        <p:spPr>
          <a:xfrm>
            <a:off x="2815363" y="473773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4B6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300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CA7CF40E-CDBE-E95C-11C9-FEF0891E0273}"/>
              </a:ext>
            </a:extLst>
          </p:cNvPr>
          <p:cNvSpPr/>
          <p:nvPr/>
        </p:nvSpPr>
        <p:spPr>
          <a:xfrm>
            <a:off x="2815363" y="532294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>
                <a:solidFill>
                  <a:srgbClr val="9FB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ACTIONS</a:t>
            </a:r>
            <a:endParaRPr lang="en-US" sz="110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7FACB317-C894-5639-E1B5-D816C1F509D6}"/>
              </a:ext>
            </a:extLst>
          </p:cNvPr>
          <p:cNvSpPr/>
          <p:nvPr/>
        </p:nvSpPr>
        <p:spPr>
          <a:xfrm>
            <a:off x="5009923" y="4573138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0E3A44"/>
          </a:solidFill>
          <a:ln w="12700">
            <a:solidFill>
              <a:srgbClr val="1E5F6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8EF1CBF3-1AB2-6CB2-664D-CBA5F8D01B6B}"/>
              </a:ext>
            </a:extLst>
          </p:cNvPr>
          <p:cNvSpPr/>
          <p:nvPr/>
        </p:nvSpPr>
        <p:spPr>
          <a:xfrm>
            <a:off x="5009923" y="4573138"/>
            <a:ext cx="91440" cy="1234440"/>
          </a:xfrm>
          <a:prstGeom prst="roundRect">
            <a:avLst>
              <a:gd name="adj" fmla="val 50000"/>
            </a:avLst>
          </a:prstGeom>
          <a:solidFill>
            <a:srgbClr val="FF6F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CD3406C3-9A93-18E2-CB9A-C6F6E17D74E9}"/>
              </a:ext>
            </a:extLst>
          </p:cNvPr>
          <p:cNvSpPr/>
          <p:nvPr/>
        </p:nvSpPr>
        <p:spPr>
          <a:xfrm>
            <a:off x="5147083" y="473773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6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6,492</a:t>
            </a:r>
            <a:endParaRPr lang="en-US" sz="300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0CAD7C38-FD75-2027-1F69-36FA985A55D6}"/>
              </a:ext>
            </a:extLst>
          </p:cNvPr>
          <p:cNvSpPr/>
          <p:nvPr/>
        </p:nvSpPr>
        <p:spPr>
          <a:xfrm>
            <a:off x="5147083" y="532294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>
                <a:solidFill>
                  <a:srgbClr val="9FB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VERDICTS</a:t>
            </a:r>
            <a:endParaRPr lang="en-US" sz="110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93D91232-2237-1B25-3DF9-A8F20B42A2ED}"/>
              </a:ext>
            </a:extLst>
          </p:cNvPr>
          <p:cNvSpPr/>
          <p:nvPr/>
        </p:nvSpPr>
        <p:spPr>
          <a:xfrm>
            <a:off x="7799083" y="1485426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0" descr="assets/logo_bluesky.png">
            <a:extLst>
              <a:ext uri="{FF2B5EF4-FFF2-40B4-BE49-F238E27FC236}">
                <a16:creationId xmlns:a16="http://schemas.microsoft.com/office/drawing/2014/main" id="{B4E0D058-34AB-3965-D7B7-6366E880F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387" y="2015292"/>
            <a:ext cx="1399032" cy="311868"/>
          </a:xfrm>
          <a:prstGeom prst="rect">
            <a:avLst/>
          </a:prstGeom>
        </p:spPr>
      </p:pic>
      <p:sp>
        <p:nvSpPr>
          <p:cNvPr id="31" name="Shape 18">
            <a:extLst>
              <a:ext uri="{FF2B5EF4-FFF2-40B4-BE49-F238E27FC236}">
                <a16:creationId xmlns:a16="http://schemas.microsoft.com/office/drawing/2014/main" id="{2B39871A-7A06-F49E-985B-FD09B7311B25}"/>
              </a:ext>
            </a:extLst>
          </p:cNvPr>
          <p:cNvSpPr/>
          <p:nvPr/>
        </p:nvSpPr>
        <p:spPr>
          <a:xfrm>
            <a:off x="9673603" y="1485426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1" descr="assets/logo_meta.jpg">
            <a:extLst>
              <a:ext uri="{FF2B5EF4-FFF2-40B4-BE49-F238E27FC236}">
                <a16:creationId xmlns:a16="http://schemas.microsoft.com/office/drawing/2014/main" id="{F06DB1BF-4B16-C7BE-4E7F-248F0A9B9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927" y="1631730"/>
            <a:ext cx="1078992" cy="1078992"/>
          </a:xfrm>
          <a:prstGeom prst="rect">
            <a:avLst/>
          </a:prstGeom>
        </p:spPr>
      </p:pic>
      <p:sp>
        <p:nvSpPr>
          <p:cNvPr id="33" name="Shape 19">
            <a:extLst>
              <a:ext uri="{FF2B5EF4-FFF2-40B4-BE49-F238E27FC236}">
                <a16:creationId xmlns:a16="http://schemas.microsoft.com/office/drawing/2014/main" id="{A6BD8769-7236-6630-5407-B1D570FD2A3D}"/>
              </a:ext>
            </a:extLst>
          </p:cNvPr>
          <p:cNvSpPr/>
          <p:nvPr/>
        </p:nvSpPr>
        <p:spPr>
          <a:xfrm>
            <a:off x="7799083" y="3058194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2" descr="assets/logo_lemmy.png">
            <a:extLst>
              <a:ext uri="{FF2B5EF4-FFF2-40B4-BE49-F238E27FC236}">
                <a16:creationId xmlns:a16="http://schemas.microsoft.com/office/drawing/2014/main" id="{8867D34D-0797-15E5-2DAB-878FC94864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5387" y="3282751"/>
            <a:ext cx="1399032" cy="922487"/>
          </a:xfrm>
          <a:prstGeom prst="rect">
            <a:avLst/>
          </a:prstGeom>
        </p:spPr>
      </p:pic>
      <p:sp>
        <p:nvSpPr>
          <p:cNvPr id="35" name="Shape 20">
            <a:extLst>
              <a:ext uri="{FF2B5EF4-FFF2-40B4-BE49-F238E27FC236}">
                <a16:creationId xmlns:a16="http://schemas.microsoft.com/office/drawing/2014/main" id="{75CCABBC-6BEC-E9CE-7F75-8784FA60723C}"/>
              </a:ext>
            </a:extLst>
          </p:cNvPr>
          <p:cNvSpPr/>
          <p:nvPr/>
        </p:nvSpPr>
        <p:spPr>
          <a:xfrm>
            <a:off x="9673603" y="3058194"/>
            <a:ext cx="16916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3" descr="assets/logo_x.png">
            <a:extLst>
              <a:ext uri="{FF2B5EF4-FFF2-40B4-BE49-F238E27FC236}">
                <a16:creationId xmlns:a16="http://schemas.microsoft.com/office/drawing/2014/main" id="{BE60F41E-125D-420D-D740-C7D6D93D5D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9907" y="3350516"/>
            <a:ext cx="1399032" cy="78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2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531"/>
    </mc:Choice>
    <mc:Fallback xmlns="">
      <p:transition spd="slow" advTm="245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610C7-6D2E-4443-6E33-85D647A7A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E54B09-5F8D-0220-3F5F-9B04A5B5A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</a:rPr>
              <a:t>THE QUESTION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318876F-416D-689C-E597-A4881DADF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838" y="875577"/>
            <a:ext cx="9075369" cy="457200"/>
          </a:xfrm>
        </p:spPr>
        <p:txBody>
          <a:bodyPr/>
          <a:lstStyle/>
          <a:p>
            <a:pPr algn="l"/>
            <a:r>
              <a:rPr lang="en-US">
                <a:latin typeface="Bahnschrift" panose="020B0502040204020203" pitchFamily="34" charset="0"/>
              </a:rPr>
              <a:t>Do LLM apply moderation policies the same way humans do ?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3066CCF-844A-A41D-5E7E-75387BB5238F}"/>
              </a:ext>
            </a:extLst>
          </p:cNvPr>
          <p:cNvGraphicFramePr/>
          <p:nvPr/>
        </p:nvGraphicFramePr>
        <p:xfrm>
          <a:off x="1659686" y="850392"/>
          <a:ext cx="8673034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ubtitle 6">
            <a:extLst>
              <a:ext uri="{FF2B5EF4-FFF2-40B4-BE49-F238E27FC236}">
                <a16:creationId xmlns:a16="http://schemas.microsoft.com/office/drawing/2014/main" id="{C35550CF-E999-CB85-D162-3FA66F28C9E6}"/>
              </a:ext>
            </a:extLst>
          </p:cNvPr>
          <p:cNvSpPr txBox="1">
            <a:spLocks/>
          </p:cNvSpPr>
          <p:nvPr/>
        </p:nvSpPr>
        <p:spPr>
          <a:xfrm>
            <a:off x="5394960" y="4084575"/>
            <a:ext cx="1124712" cy="457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>
              <a:latin typeface="Bahnschrift" panose="020B0502040204020203" pitchFamily="34" charset="0"/>
            </a:endParaRPr>
          </a:p>
        </p:txBody>
      </p:sp>
      <p:sp>
        <p:nvSpPr>
          <p:cNvPr id="10" name="Subtitle 6">
            <a:extLst>
              <a:ext uri="{FF2B5EF4-FFF2-40B4-BE49-F238E27FC236}">
                <a16:creationId xmlns:a16="http://schemas.microsoft.com/office/drawing/2014/main" id="{C6C05450-C172-3C7F-C3BD-2B64C614E730}"/>
              </a:ext>
            </a:extLst>
          </p:cNvPr>
          <p:cNvSpPr txBox="1">
            <a:spLocks/>
          </p:cNvSpPr>
          <p:nvPr/>
        </p:nvSpPr>
        <p:spPr>
          <a:xfrm>
            <a:off x="2112314" y="3984243"/>
            <a:ext cx="7822642" cy="2414014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>
                <a:latin typeface="Bahnschrift" panose="020B0502040204020203" pitchFamily="34" charset="0"/>
              </a:rPr>
              <a:t>Why ? </a:t>
            </a:r>
            <a:endParaRPr lang="en-US" sz="3600" b="0">
              <a:latin typeface="Bahnschrift" panose="020B050204020402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>
                <a:latin typeface="Bahnschrift" panose="020B0502040204020203" pitchFamily="34" charset="0"/>
              </a:rPr>
              <a:t>Policy as a prompt is being proposed as a scalable moderation infrastructure.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>
                <a:latin typeface="Bahnschrift" panose="020B0502040204020203" pitchFamily="34" charset="0"/>
              </a:rPr>
              <a:t>This dataset aims to show whether the substitution holds in practice or whether policy text itself drives divergence outcomes. </a:t>
            </a:r>
          </a:p>
          <a:p>
            <a:pPr algn="l"/>
            <a:endParaRPr lang="en-US" sz="1600" b="0">
              <a:latin typeface="Bahnschrift" panose="020B0502040204020203" pitchFamily="34" charset="0"/>
            </a:endParaRPr>
          </a:p>
          <a:p>
            <a:pPr algn="ctr"/>
            <a:r>
              <a:rPr lang="en-US" sz="1600">
                <a:latin typeface="Bahnschrift" panose="020B0502040204020203" pitchFamily="34" charset="0"/>
              </a:rPr>
              <a:t>Outcome : reproduceable pipeline and workflow for trust and safety research</a:t>
            </a:r>
          </a:p>
        </p:txBody>
      </p:sp>
      <p:pic>
        <p:nvPicPr>
          <p:cNvPr id="2054" name="Picture 6" descr="Gemma with Ollama — small and private LLM | by Balazs Kocsis | Medium">
            <a:extLst>
              <a:ext uri="{FF2B5EF4-FFF2-40B4-BE49-F238E27FC236}">
                <a16:creationId xmlns:a16="http://schemas.microsoft.com/office/drawing/2014/main" id="{ACED510F-BF77-B689-F99B-1F8A08633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49" y="2910415"/>
            <a:ext cx="1991818" cy="566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17">
            <a:extLst>
              <a:ext uri="{FF2B5EF4-FFF2-40B4-BE49-F238E27FC236}">
                <a16:creationId xmlns:a16="http://schemas.microsoft.com/office/drawing/2014/main" id="{F0210AE6-13DB-48F8-DD78-E49A8620A306}"/>
              </a:ext>
            </a:extLst>
          </p:cNvPr>
          <p:cNvSpPr/>
          <p:nvPr/>
        </p:nvSpPr>
        <p:spPr>
          <a:xfrm>
            <a:off x="1659686" y="3024381"/>
            <a:ext cx="1189403" cy="457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assets/logo_bluesky.png">
            <a:extLst>
              <a:ext uri="{FF2B5EF4-FFF2-40B4-BE49-F238E27FC236}">
                <a16:creationId xmlns:a16="http://schemas.microsoft.com/office/drawing/2014/main" id="{C22A2794-3F91-2379-88B8-AAAA59E4DE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5824" y="3158527"/>
            <a:ext cx="983668" cy="219276"/>
          </a:xfrm>
          <a:prstGeom prst="rect">
            <a:avLst/>
          </a:prstGeom>
        </p:spPr>
      </p:pic>
      <p:sp>
        <p:nvSpPr>
          <p:cNvPr id="5" name="Shape 18">
            <a:extLst>
              <a:ext uri="{FF2B5EF4-FFF2-40B4-BE49-F238E27FC236}">
                <a16:creationId xmlns:a16="http://schemas.microsoft.com/office/drawing/2014/main" id="{8989DB3A-C2CC-424E-35E6-11698D90974D}"/>
              </a:ext>
            </a:extLst>
          </p:cNvPr>
          <p:cNvSpPr/>
          <p:nvPr/>
        </p:nvSpPr>
        <p:spPr>
          <a:xfrm>
            <a:off x="6163372" y="2960659"/>
            <a:ext cx="953014" cy="748312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assets/logo_meta.jpg">
            <a:extLst>
              <a:ext uri="{FF2B5EF4-FFF2-40B4-BE49-F238E27FC236}">
                <a16:creationId xmlns:a16="http://schemas.microsoft.com/office/drawing/2014/main" id="{431152BB-F35C-E25A-6C4C-A3F48B68BB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5945" y="3030881"/>
            <a:ext cx="607868" cy="607868"/>
          </a:xfrm>
          <a:prstGeom prst="rect">
            <a:avLst/>
          </a:prstGeom>
        </p:spPr>
      </p:pic>
      <p:sp>
        <p:nvSpPr>
          <p:cNvPr id="15" name="Shape 19">
            <a:extLst>
              <a:ext uri="{FF2B5EF4-FFF2-40B4-BE49-F238E27FC236}">
                <a16:creationId xmlns:a16="http://schemas.microsoft.com/office/drawing/2014/main" id="{D1CB02B8-EB1B-9ED4-F15E-EF69F30F3CE4}"/>
              </a:ext>
            </a:extLst>
          </p:cNvPr>
          <p:cNvSpPr/>
          <p:nvPr/>
        </p:nvSpPr>
        <p:spPr>
          <a:xfrm>
            <a:off x="3009338" y="2960659"/>
            <a:ext cx="953014" cy="632933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logo_lemmy.png">
            <a:extLst>
              <a:ext uri="{FF2B5EF4-FFF2-40B4-BE49-F238E27FC236}">
                <a16:creationId xmlns:a16="http://schemas.microsoft.com/office/drawing/2014/main" id="{D52A103F-B993-EFF9-C091-70F3C6E8F9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5641" y="3090339"/>
            <a:ext cx="660407" cy="435456"/>
          </a:xfrm>
          <a:prstGeom prst="rect">
            <a:avLst/>
          </a:prstGeom>
        </p:spPr>
      </p:pic>
      <p:sp>
        <p:nvSpPr>
          <p:cNvPr id="17" name="Shape 20">
            <a:extLst>
              <a:ext uri="{FF2B5EF4-FFF2-40B4-BE49-F238E27FC236}">
                <a16:creationId xmlns:a16="http://schemas.microsoft.com/office/drawing/2014/main" id="{9EE86B84-ACA9-BBAD-08A4-186BB48E4DA3}"/>
              </a:ext>
            </a:extLst>
          </p:cNvPr>
          <p:cNvSpPr/>
          <p:nvPr/>
        </p:nvSpPr>
        <p:spPr>
          <a:xfrm>
            <a:off x="4980512" y="2983882"/>
            <a:ext cx="953014" cy="710042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logo_x.png">
            <a:extLst>
              <a:ext uri="{FF2B5EF4-FFF2-40B4-BE49-F238E27FC236}">
                <a16:creationId xmlns:a16="http://schemas.microsoft.com/office/drawing/2014/main" id="{B366C77D-3F44-212A-86A4-CCD7193ED8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8521" y="3110647"/>
            <a:ext cx="788168" cy="44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27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235"/>
    </mc:Choice>
    <mc:Fallback xmlns="">
      <p:transition spd="slow" advTm="5523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189D-255B-251B-E450-933B9E98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1177B83-45F3-BEC1-E516-28BAB20A5916}"/>
              </a:ext>
            </a:extLst>
          </p:cNvPr>
          <p:cNvSpPr/>
          <p:nvPr/>
        </p:nvSpPr>
        <p:spPr>
          <a:xfrm>
            <a:off x="6678168" y="4479532"/>
            <a:ext cx="4901184" cy="2058425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Arial,Sans-Serif"/>
              <a:buChar char="•"/>
            </a:pPr>
            <a:endParaRPr lang="en-US">
              <a:solidFill>
                <a:srgbClr val="FFFFFF"/>
              </a:solidFill>
              <a:latin typeface="Bahnschrift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>
              <a:solidFill>
                <a:srgbClr val="FFFFFF"/>
              </a:solidFill>
              <a:latin typeface="Bahnschrift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>
              <a:solidFill>
                <a:srgbClr val="FFFFFF"/>
              </a:solidFill>
              <a:latin typeface="Bahnschrift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  <a:cs typeface="Arial"/>
              </a:rPr>
              <a:t>Official community guidelines as of May of 2026</a:t>
            </a: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  <a:cs typeface="Arial"/>
              </a:rPr>
              <a:t>Policies converted are authenticity, violent content, and hateful conduct. </a:t>
            </a:r>
            <a:endParaRPr lang="en-US" b="1">
              <a:latin typeface="Bahnschrift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2AD835-923D-6AC9-FEDA-B97CEB0FC25E}"/>
              </a:ext>
            </a:extLst>
          </p:cNvPr>
          <p:cNvSpPr/>
          <p:nvPr/>
        </p:nvSpPr>
        <p:spPr>
          <a:xfrm>
            <a:off x="612648" y="4479533"/>
            <a:ext cx="4901184" cy="2058425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b="1">
                <a:latin typeface="Bahnschrift" panose="020B0502040204020203" pitchFamily="34" charset="0"/>
              </a:rPr>
              <a:t>Bluesky</a:t>
            </a:r>
          </a:p>
          <a:p>
            <a:pPr marL="285750" indent="-285750">
              <a:buFont typeface="Arial,Sans-Serif"/>
              <a:buChar char="•"/>
            </a:pPr>
            <a:endParaRPr lang="en-US">
              <a:solidFill>
                <a:srgbClr val="FFFFFF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Bahnschrift"/>
              </a:rPr>
              <a:t>Official community guidelines as of May of 2026</a:t>
            </a:r>
            <a:endParaRPr lang="en-US">
              <a:solidFill>
                <a:srgbClr val="000000"/>
              </a:solidFill>
              <a:latin typeface="Bahnschrif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Bahnschrift"/>
              </a:rPr>
              <a:t>Policies converted are hateful conduct, spam and violence </a:t>
            </a:r>
          </a:p>
          <a:p>
            <a:pPr marL="742950" lvl="1" indent="-285750">
              <a:buFont typeface="Courier New"/>
              <a:buChar char="o"/>
            </a:pPr>
            <a:endParaRPr lang="en-US">
              <a:latin typeface="Bahnschrift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9F89869-E069-F456-AFB4-5AD67896C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</a:rPr>
              <a:t>Data sources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8BC273-E241-1A3F-B3D3-191ECE06D52C}"/>
              </a:ext>
            </a:extLst>
          </p:cNvPr>
          <p:cNvSpPr/>
          <p:nvPr/>
        </p:nvSpPr>
        <p:spPr>
          <a:xfrm>
            <a:off x="612648" y="1378916"/>
            <a:ext cx="4901184" cy="2373293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latin typeface="Bahnschrift" panose="020B0502040204020203" pitchFamily="34" charset="0"/>
              </a:rPr>
              <a:t>Bluesky</a:t>
            </a:r>
          </a:p>
          <a:p>
            <a:endParaRPr lang="en-US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3000 posts collected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28 unique moderation actions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Official labeler only: </a:t>
            </a:r>
            <a:r>
              <a:rPr lang="en-US" err="1">
                <a:latin typeface="Bahnschrift" panose="020B0502040204020203" pitchFamily="34" charset="0"/>
              </a:rPr>
              <a:t>moderation.bksy.app</a:t>
            </a:r>
            <a:endParaRPr lang="en-US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Community labelers are excluded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Public search and endpoints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3C6C6F-C236-E1A0-EDBF-47AD477E3A13}"/>
              </a:ext>
            </a:extLst>
          </p:cNvPr>
          <p:cNvSpPr/>
          <p:nvPr/>
        </p:nvSpPr>
        <p:spPr>
          <a:xfrm>
            <a:off x="6480047" y="1311738"/>
            <a:ext cx="4901184" cy="2382438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latin typeface="Bahnschrift" panose="020B0502040204020203" pitchFamily="34" charset="0"/>
              </a:rPr>
              <a:t>Lemmy</a:t>
            </a:r>
          </a:p>
          <a:p>
            <a:endParaRPr lang="en-US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1164 posts collected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10 unique moderation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Three federated instances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>
                <a:latin typeface="Bahnschrift" panose="020B0502040204020203" pitchFamily="34" charset="0"/>
              </a:rPr>
              <a:t>Lemmy.world</a:t>
            </a:r>
            <a:endParaRPr lang="en-US"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Lemmy.ml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err="1">
                <a:latin typeface="Bahnschrift" panose="020B0502040204020203" pitchFamily="34" charset="0"/>
              </a:rPr>
              <a:t>Programming.dev</a:t>
            </a:r>
            <a:endParaRPr lang="en-US">
              <a:latin typeface="Bahnschrift" panose="020B0502040204020203" pitchFamily="34" charset="0"/>
            </a:endParaRPr>
          </a:p>
          <a:p>
            <a:pPr lvl="1"/>
            <a:endParaRPr lang="en-US">
              <a:latin typeface="Bahnschrift" panose="020B0502040204020203" pitchFamily="34" charset="0"/>
            </a:endParaRPr>
          </a:p>
        </p:txBody>
      </p:sp>
      <p:sp>
        <p:nvSpPr>
          <p:cNvPr id="7" name="Shape 18">
            <a:extLst>
              <a:ext uri="{FF2B5EF4-FFF2-40B4-BE49-F238E27FC236}">
                <a16:creationId xmlns:a16="http://schemas.microsoft.com/office/drawing/2014/main" id="{7EE61586-42D2-A503-1E2C-9AA0B95DBEC6}"/>
              </a:ext>
            </a:extLst>
          </p:cNvPr>
          <p:cNvSpPr/>
          <p:nvPr/>
        </p:nvSpPr>
        <p:spPr>
          <a:xfrm>
            <a:off x="8460457" y="4151901"/>
            <a:ext cx="1385316" cy="944082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logo_meta.jpg">
            <a:extLst>
              <a:ext uri="{FF2B5EF4-FFF2-40B4-BE49-F238E27FC236}">
                <a16:creationId xmlns:a16="http://schemas.microsoft.com/office/drawing/2014/main" id="{7A5805F6-578E-E637-B7AA-EDECDAF1E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128" y="4263314"/>
            <a:ext cx="755045" cy="755045"/>
          </a:xfrm>
          <a:prstGeom prst="rect">
            <a:avLst/>
          </a:prstGeom>
        </p:spPr>
      </p:pic>
      <p:sp>
        <p:nvSpPr>
          <p:cNvPr id="11" name="Shape 20">
            <a:extLst>
              <a:ext uri="{FF2B5EF4-FFF2-40B4-BE49-F238E27FC236}">
                <a16:creationId xmlns:a16="http://schemas.microsoft.com/office/drawing/2014/main" id="{972ACE59-988F-8D2A-EA68-79DA8B29AFBF}"/>
              </a:ext>
            </a:extLst>
          </p:cNvPr>
          <p:cNvSpPr/>
          <p:nvPr/>
        </p:nvSpPr>
        <p:spPr>
          <a:xfrm>
            <a:off x="2039905" y="4164666"/>
            <a:ext cx="1691640" cy="77418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3" descr="assets/logo_x.png">
            <a:extLst>
              <a:ext uri="{FF2B5EF4-FFF2-40B4-BE49-F238E27FC236}">
                <a16:creationId xmlns:a16="http://schemas.microsoft.com/office/drawing/2014/main" id="{494466B8-54DB-226B-7CC0-88D9B1D38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6209" y="4151900"/>
            <a:ext cx="1399032" cy="786956"/>
          </a:xfrm>
          <a:prstGeom prst="rect">
            <a:avLst/>
          </a:prstGeom>
        </p:spPr>
      </p:pic>
      <p:sp>
        <p:nvSpPr>
          <p:cNvPr id="14" name="Shape 17">
            <a:extLst>
              <a:ext uri="{FF2B5EF4-FFF2-40B4-BE49-F238E27FC236}">
                <a16:creationId xmlns:a16="http://schemas.microsoft.com/office/drawing/2014/main" id="{1275727C-7DB3-748E-E95C-4653C58F8716}"/>
              </a:ext>
            </a:extLst>
          </p:cNvPr>
          <p:cNvSpPr/>
          <p:nvPr/>
        </p:nvSpPr>
        <p:spPr>
          <a:xfrm>
            <a:off x="2186209" y="1165259"/>
            <a:ext cx="1691640" cy="572009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0" descr="assets/logo_bluesky.png">
            <a:extLst>
              <a:ext uri="{FF2B5EF4-FFF2-40B4-BE49-F238E27FC236}">
                <a16:creationId xmlns:a16="http://schemas.microsoft.com/office/drawing/2014/main" id="{F5114B23-A2F9-137A-CDBF-6CA84B0CC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2513" y="1296101"/>
            <a:ext cx="1399032" cy="311868"/>
          </a:xfrm>
          <a:prstGeom prst="rect">
            <a:avLst/>
          </a:prstGeom>
        </p:spPr>
      </p:pic>
      <p:sp>
        <p:nvSpPr>
          <p:cNvPr id="16" name="Shape 19">
            <a:extLst>
              <a:ext uri="{FF2B5EF4-FFF2-40B4-BE49-F238E27FC236}">
                <a16:creationId xmlns:a16="http://schemas.microsoft.com/office/drawing/2014/main" id="{7DEF671E-3ECA-5D2C-C9AB-99FFDF1D6923}"/>
              </a:ext>
            </a:extLst>
          </p:cNvPr>
          <p:cNvSpPr/>
          <p:nvPr/>
        </p:nvSpPr>
        <p:spPr>
          <a:xfrm>
            <a:off x="8116030" y="764885"/>
            <a:ext cx="1691640" cy="1093706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assets/logo_lemmy.png">
            <a:extLst>
              <a:ext uri="{FF2B5EF4-FFF2-40B4-BE49-F238E27FC236}">
                <a16:creationId xmlns:a16="http://schemas.microsoft.com/office/drawing/2014/main" id="{996FB05E-1945-D3C7-B8D1-9859FB1FD1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395" y="936523"/>
            <a:ext cx="1200909" cy="75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44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767"/>
    </mc:Choice>
    <mc:Fallback xmlns="">
      <p:transition spd="slow" advTm="4576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EC86-8A08-9B09-62CE-38929E50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8D654DA-C3DF-4E97-D795-979656767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Acquiring the data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4BFAFE-FEA4-0D83-BBBA-E679D655EC43}"/>
              </a:ext>
            </a:extLst>
          </p:cNvPr>
          <p:cNvSpPr/>
          <p:nvPr/>
        </p:nvSpPr>
        <p:spPr>
          <a:xfrm>
            <a:off x="992827" y="3109974"/>
            <a:ext cx="4294632" cy="2995495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latin typeface="Bahnschrift" panose="020B0502040204020203" pitchFamily="34" charset="0"/>
              </a:rPr>
              <a:t>Design decisions</a:t>
            </a:r>
          </a:p>
          <a:p>
            <a:endParaRPr lang="en-US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Single SQLite db.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Ignore duplicate posts on Lemmy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3 categories of LLM policy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Violence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Hate speech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Spam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6 LLM calls per post ( 3 categories X 2 policies)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Bahnschrift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1C00FC-C5F1-0CED-B603-370EB789C5CA}"/>
              </a:ext>
            </a:extLst>
          </p:cNvPr>
          <p:cNvSpPr/>
          <p:nvPr/>
        </p:nvSpPr>
        <p:spPr>
          <a:xfrm>
            <a:off x="5648057" y="3119627"/>
            <a:ext cx="5468581" cy="1339593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latin typeface="Bahnschrift" panose="020B0502040204020203" pitchFamily="34" charset="0"/>
              </a:rPr>
              <a:t>Content filters </a:t>
            </a:r>
          </a:p>
          <a:p>
            <a:endParaRPr lang="en-US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English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Only text but keep the media in hashed URLs</a:t>
            </a:r>
          </a:p>
          <a:p>
            <a:endParaRPr lang="en-US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44F61C-68F5-F188-A6F0-2989DE1D7C6F}"/>
              </a:ext>
            </a:extLst>
          </p:cNvPr>
          <p:cNvSpPr/>
          <p:nvPr/>
        </p:nvSpPr>
        <p:spPr>
          <a:xfrm>
            <a:off x="5648058" y="4639560"/>
            <a:ext cx="5468580" cy="1465909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latin typeface="Bahnschrift" panose="020B0502040204020203" pitchFamily="34" charset="0"/>
              </a:rPr>
              <a:t>LLM settings</a:t>
            </a:r>
          </a:p>
          <a:p>
            <a:endParaRPr lang="en-US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Gemma4 (8B parameters) via local </a:t>
            </a:r>
            <a:r>
              <a:rPr lang="en-US" err="1">
                <a:latin typeface="Bahnschrift" panose="020B0502040204020203" pitchFamily="34" charset="0"/>
              </a:rPr>
              <a:t>Ollama</a:t>
            </a:r>
            <a:endParaRPr lang="en-US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JSON output : action, category, confidence </a:t>
            </a:r>
          </a:p>
          <a:p>
            <a:endParaRPr lang="en-US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Bahnschrift" panose="020B0502040204020203" pitchFamily="34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801F47A-4BD6-B6E7-7E3E-1EC2BFC87A5A}"/>
              </a:ext>
            </a:extLst>
          </p:cNvPr>
          <p:cNvSpPr/>
          <p:nvPr/>
        </p:nvSpPr>
        <p:spPr>
          <a:xfrm>
            <a:off x="527304" y="1390141"/>
            <a:ext cx="1993392" cy="1371600"/>
          </a:xfrm>
          <a:prstGeom prst="roundRect">
            <a:avLst>
              <a:gd name="adj" fmla="val 4667"/>
            </a:avLst>
          </a:prstGeom>
          <a:solidFill>
            <a:srgbClr val="0E3A44"/>
          </a:solidFill>
          <a:ln w="12700">
            <a:solidFill>
              <a:srgbClr val="1E5F6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557A4A4-B6FB-8413-2F0E-981502180A5A}"/>
              </a:ext>
            </a:extLst>
          </p:cNvPr>
          <p:cNvSpPr/>
          <p:nvPr/>
        </p:nvSpPr>
        <p:spPr>
          <a:xfrm>
            <a:off x="691896" y="1188973"/>
            <a:ext cx="457200" cy="457200"/>
          </a:xfrm>
          <a:prstGeom prst="ellipse">
            <a:avLst/>
          </a:prstGeom>
          <a:solidFill>
            <a:srgbClr val="33E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2A66C8F-590F-6101-96CF-D0A866389896}"/>
              </a:ext>
            </a:extLst>
          </p:cNvPr>
          <p:cNvSpPr/>
          <p:nvPr/>
        </p:nvSpPr>
        <p:spPr>
          <a:xfrm>
            <a:off x="691896" y="118897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70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C89C72B0-EDCB-03D0-B322-AFEBB91E8BED}"/>
              </a:ext>
            </a:extLst>
          </p:cNvPr>
          <p:cNvSpPr/>
          <p:nvPr/>
        </p:nvSpPr>
        <p:spPr>
          <a:xfrm>
            <a:off x="664464" y="1646173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50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</a:t>
            </a:r>
            <a:endParaRPr lang="en-US" sz="150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5DDE3C3D-88DA-28A6-F2E2-AF520573C2D7}"/>
              </a:ext>
            </a:extLst>
          </p:cNvPr>
          <p:cNvSpPr/>
          <p:nvPr/>
        </p:nvSpPr>
        <p:spPr>
          <a:xfrm>
            <a:off x="637032" y="2176525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Protocol +</a:t>
            </a:r>
            <a:endParaRPr lang="en-US" sz="105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Lemmy modlogs</a:t>
            </a:r>
            <a:endParaRPr lang="en-US" sz="105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027DBC9-B3C4-59D6-BF1D-A2FAF4F0BA74}"/>
              </a:ext>
            </a:extLst>
          </p:cNvPr>
          <p:cNvSpPr/>
          <p:nvPr/>
        </p:nvSpPr>
        <p:spPr>
          <a:xfrm>
            <a:off x="2502408" y="1390141"/>
            <a:ext cx="3291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33E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363235D0-82F1-226C-6C37-FDD215CB4EE6}"/>
              </a:ext>
            </a:extLst>
          </p:cNvPr>
          <p:cNvSpPr/>
          <p:nvPr/>
        </p:nvSpPr>
        <p:spPr>
          <a:xfrm>
            <a:off x="2813304" y="1390141"/>
            <a:ext cx="1993392" cy="1371600"/>
          </a:xfrm>
          <a:prstGeom prst="roundRect">
            <a:avLst>
              <a:gd name="adj" fmla="val 4667"/>
            </a:avLst>
          </a:prstGeom>
          <a:solidFill>
            <a:srgbClr val="0E3A44"/>
          </a:solidFill>
          <a:ln w="12700">
            <a:solidFill>
              <a:srgbClr val="1E5F6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30A00258-9AA0-B3C8-9F84-D60942CBA014}"/>
              </a:ext>
            </a:extLst>
          </p:cNvPr>
          <p:cNvSpPr/>
          <p:nvPr/>
        </p:nvSpPr>
        <p:spPr>
          <a:xfrm>
            <a:off x="2977896" y="1188973"/>
            <a:ext cx="457200" cy="457200"/>
          </a:xfrm>
          <a:prstGeom prst="ellipse">
            <a:avLst/>
          </a:prstGeom>
          <a:solidFill>
            <a:srgbClr val="33E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1E92B2FA-5796-5CAB-4DF2-3C77BC2855E7}"/>
              </a:ext>
            </a:extLst>
          </p:cNvPr>
          <p:cNvSpPr/>
          <p:nvPr/>
        </p:nvSpPr>
        <p:spPr>
          <a:xfrm>
            <a:off x="2977896" y="118897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70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D75477FD-1CF2-C9D5-CDFA-8AC68089CCDF}"/>
              </a:ext>
            </a:extLst>
          </p:cNvPr>
          <p:cNvSpPr/>
          <p:nvPr/>
        </p:nvSpPr>
        <p:spPr>
          <a:xfrm>
            <a:off x="2950464" y="1646173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Collectors</a:t>
            </a:r>
            <a:endParaRPr lang="en-US" sz="150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3BB457B0-4812-26EB-AA9C-D941D243911D}"/>
              </a:ext>
            </a:extLst>
          </p:cNvPr>
          <p:cNvSpPr/>
          <p:nvPr/>
        </p:nvSpPr>
        <p:spPr>
          <a:xfrm>
            <a:off x="2923032" y="2176525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Python,</a:t>
            </a:r>
            <a:endParaRPr lang="en-US" sz="105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HTTP</a:t>
            </a:r>
            <a:endParaRPr lang="en-US" sz="105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43822AAA-7A2C-5967-1F76-27309D3B97A4}"/>
              </a:ext>
            </a:extLst>
          </p:cNvPr>
          <p:cNvSpPr/>
          <p:nvPr/>
        </p:nvSpPr>
        <p:spPr>
          <a:xfrm>
            <a:off x="4788408" y="1390141"/>
            <a:ext cx="3291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33E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/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F7E77704-99F3-0B73-2501-419CE4F17E0E}"/>
              </a:ext>
            </a:extLst>
          </p:cNvPr>
          <p:cNvSpPr/>
          <p:nvPr/>
        </p:nvSpPr>
        <p:spPr>
          <a:xfrm>
            <a:off x="5099304" y="1390141"/>
            <a:ext cx="1993392" cy="1371600"/>
          </a:xfrm>
          <a:prstGeom prst="roundRect">
            <a:avLst>
              <a:gd name="adj" fmla="val 4667"/>
            </a:avLst>
          </a:prstGeom>
          <a:solidFill>
            <a:srgbClr val="0E3A44"/>
          </a:solidFill>
          <a:ln w="12700">
            <a:solidFill>
              <a:srgbClr val="1E5F6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29428FE3-E961-ACCE-5A2C-082F669FC1FF}"/>
              </a:ext>
            </a:extLst>
          </p:cNvPr>
          <p:cNvSpPr/>
          <p:nvPr/>
        </p:nvSpPr>
        <p:spPr>
          <a:xfrm>
            <a:off x="5263896" y="1188973"/>
            <a:ext cx="457200" cy="457200"/>
          </a:xfrm>
          <a:prstGeom prst="ellipse">
            <a:avLst/>
          </a:prstGeom>
          <a:solidFill>
            <a:srgbClr val="33E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96F6E47A-EAD1-21A2-BB8A-1E731CE70DF1}"/>
              </a:ext>
            </a:extLst>
          </p:cNvPr>
          <p:cNvSpPr/>
          <p:nvPr/>
        </p:nvSpPr>
        <p:spPr>
          <a:xfrm>
            <a:off x="5263896" y="118897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70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ECB8B7A5-73AB-E8C6-DF40-19C9481346A0}"/>
              </a:ext>
            </a:extLst>
          </p:cNvPr>
          <p:cNvSpPr/>
          <p:nvPr/>
        </p:nvSpPr>
        <p:spPr>
          <a:xfrm>
            <a:off x="5236464" y="1646173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50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39C7F00C-6E1D-2E6A-CAA6-9244749390E9}"/>
              </a:ext>
            </a:extLst>
          </p:cNvPr>
          <p:cNvSpPr/>
          <p:nvPr/>
        </p:nvSpPr>
        <p:spPr>
          <a:xfrm>
            <a:off x="5209032" y="2176525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moderation.db</a:t>
            </a:r>
            <a:endParaRPr lang="en-US" sz="105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on ap_id</a:t>
            </a:r>
            <a:endParaRPr lang="en-US" sz="1050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F6C69DA4-8712-99FB-6B50-5022211E9DD5}"/>
              </a:ext>
            </a:extLst>
          </p:cNvPr>
          <p:cNvSpPr/>
          <p:nvPr/>
        </p:nvSpPr>
        <p:spPr>
          <a:xfrm>
            <a:off x="7074408" y="1390141"/>
            <a:ext cx="3291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33E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/>
          </a:p>
        </p:txBody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BB389EB8-982B-5401-CC2E-29F803F9380E}"/>
              </a:ext>
            </a:extLst>
          </p:cNvPr>
          <p:cNvSpPr/>
          <p:nvPr/>
        </p:nvSpPr>
        <p:spPr>
          <a:xfrm>
            <a:off x="7385304" y="1390141"/>
            <a:ext cx="1993392" cy="1371600"/>
          </a:xfrm>
          <a:prstGeom prst="roundRect">
            <a:avLst>
              <a:gd name="adj" fmla="val 4667"/>
            </a:avLst>
          </a:prstGeom>
          <a:solidFill>
            <a:srgbClr val="0E3A44"/>
          </a:solidFill>
          <a:ln w="12700">
            <a:solidFill>
              <a:srgbClr val="1E5F6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1">
            <a:extLst>
              <a:ext uri="{FF2B5EF4-FFF2-40B4-BE49-F238E27FC236}">
                <a16:creationId xmlns:a16="http://schemas.microsoft.com/office/drawing/2014/main" id="{1A4BF8CF-45F1-2031-FEB4-326743B5D391}"/>
              </a:ext>
            </a:extLst>
          </p:cNvPr>
          <p:cNvSpPr/>
          <p:nvPr/>
        </p:nvSpPr>
        <p:spPr>
          <a:xfrm>
            <a:off x="7549896" y="1188973"/>
            <a:ext cx="457200" cy="457200"/>
          </a:xfrm>
          <a:prstGeom prst="ellipse">
            <a:avLst/>
          </a:prstGeom>
          <a:solidFill>
            <a:srgbClr val="33E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1C024EC9-26BA-34F6-94B2-90159FDDC88F}"/>
              </a:ext>
            </a:extLst>
          </p:cNvPr>
          <p:cNvSpPr/>
          <p:nvPr/>
        </p:nvSpPr>
        <p:spPr>
          <a:xfrm>
            <a:off x="7549896" y="118897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7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779BA19A-4559-9005-C34A-604C29B88353}"/>
              </a:ext>
            </a:extLst>
          </p:cNvPr>
          <p:cNvSpPr/>
          <p:nvPr/>
        </p:nvSpPr>
        <p:spPr>
          <a:xfrm>
            <a:off x="7522464" y="1646173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500"/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4610DB98-84AE-5A50-CAE0-56495278B442}"/>
              </a:ext>
            </a:extLst>
          </p:cNvPr>
          <p:cNvSpPr/>
          <p:nvPr/>
        </p:nvSpPr>
        <p:spPr>
          <a:xfrm>
            <a:off x="7495032" y="2176525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Gemma 9B</a:t>
            </a:r>
            <a:endParaRPr lang="en-US" sz="105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Ollama</a:t>
            </a:r>
            <a:endParaRPr lang="en-US" sz="1050"/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B312401B-88AA-0B21-951E-B017FDF30B39}"/>
              </a:ext>
            </a:extLst>
          </p:cNvPr>
          <p:cNvSpPr/>
          <p:nvPr/>
        </p:nvSpPr>
        <p:spPr>
          <a:xfrm>
            <a:off x="9360408" y="1390141"/>
            <a:ext cx="3291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33E6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BFF2B59E-2764-24CA-425F-DB18BCF4EE49}"/>
              </a:ext>
            </a:extLst>
          </p:cNvPr>
          <p:cNvSpPr/>
          <p:nvPr/>
        </p:nvSpPr>
        <p:spPr>
          <a:xfrm>
            <a:off x="9671304" y="1390141"/>
            <a:ext cx="1993392" cy="1371600"/>
          </a:xfrm>
          <a:prstGeom prst="roundRect">
            <a:avLst>
              <a:gd name="adj" fmla="val 4667"/>
            </a:avLst>
          </a:prstGeom>
          <a:solidFill>
            <a:srgbClr val="0E3A44"/>
          </a:solidFill>
          <a:ln w="12700">
            <a:solidFill>
              <a:srgbClr val="1E5F6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E45D4D5B-7A23-57D1-4B19-A9B1D23CCA70}"/>
              </a:ext>
            </a:extLst>
          </p:cNvPr>
          <p:cNvSpPr/>
          <p:nvPr/>
        </p:nvSpPr>
        <p:spPr>
          <a:xfrm>
            <a:off x="9835896" y="1188973"/>
            <a:ext cx="457200" cy="457200"/>
          </a:xfrm>
          <a:prstGeom prst="ellipse">
            <a:avLst/>
          </a:prstGeom>
          <a:solidFill>
            <a:srgbClr val="33E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3B314017-5E94-AF3A-FFED-F4685994E1C2}"/>
              </a:ext>
            </a:extLst>
          </p:cNvPr>
          <p:cNvSpPr/>
          <p:nvPr/>
        </p:nvSpPr>
        <p:spPr>
          <a:xfrm>
            <a:off x="9835896" y="118897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70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27700FA8-5995-95D5-4BB2-24F50272DEE0}"/>
              </a:ext>
            </a:extLst>
          </p:cNvPr>
          <p:cNvSpPr/>
          <p:nvPr/>
        </p:nvSpPr>
        <p:spPr>
          <a:xfrm>
            <a:off x="9808464" y="1646173"/>
            <a:ext cx="17190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Verdict</a:t>
            </a:r>
            <a:endParaRPr lang="en-US" sz="1500"/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4BD13C73-FF40-270E-344E-96689EAEAC37}"/>
              </a:ext>
            </a:extLst>
          </p:cNvPr>
          <p:cNvSpPr/>
          <p:nvPr/>
        </p:nvSpPr>
        <p:spPr>
          <a:xfrm>
            <a:off x="9781032" y="2176525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sim,</a:t>
            </a:r>
            <a:endParaRPr lang="en-US" sz="105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50">
                <a:solidFill>
                  <a:srgbClr val="9FBE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wide schema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327499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365"/>
    </mc:Choice>
    <mc:Fallback xmlns="">
      <p:transition spd="slow" advTm="4636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BC44-6652-E0D5-F65A-F98979A6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D25251C0-1F1A-3454-03AD-26394A4D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Dataset constructed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CF0256-0113-AAA5-641D-0D52D6E0BEAB}"/>
              </a:ext>
            </a:extLst>
          </p:cNvPr>
          <p:cNvSpPr/>
          <p:nvPr/>
        </p:nvSpPr>
        <p:spPr>
          <a:xfrm>
            <a:off x="597262" y="1267923"/>
            <a:ext cx="1705305" cy="1117529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>
                <a:latin typeface="Bahnschrift" panose="020B0502040204020203" pitchFamily="34" charset="0"/>
              </a:rPr>
              <a:t>4164</a:t>
            </a:r>
            <a:r>
              <a:rPr lang="en-US" sz="2000">
                <a:latin typeface="Bahnschrift" panose="020B0502040204020203" pitchFamily="34" charset="0"/>
              </a:rPr>
              <a:t> </a:t>
            </a:r>
          </a:p>
          <a:p>
            <a:pPr algn="ctr"/>
            <a:r>
              <a:rPr lang="en-US" sz="2000">
                <a:latin typeface="Bahnschrift" panose="020B0502040204020203" pitchFamily="34" charset="0"/>
              </a:rPr>
              <a:t>unique posts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F75256-FD91-0A7E-E4A4-AC16DFDC5429}"/>
              </a:ext>
            </a:extLst>
          </p:cNvPr>
          <p:cNvSpPr/>
          <p:nvPr/>
        </p:nvSpPr>
        <p:spPr>
          <a:xfrm>
            <a:off x="550293" y="2721380"/>
            <a:ext cx="6719187" cy="87610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>
                <a:latin typeface="Bahnschrift" panose="020B0502040204020203" pitchFamily="34" charset="0"/>
              </a:rPr>
              <a:t>Posts</a:t>
            </a:r>
            <a:endParaRPr lang="en-US" sz="1100" b="1">
              <a:latin typeface="Bahnschrift" panose="020B0502040204020203" pitchFamily="34" charset="0"/>
            </a:endParaRPr>
          </a:p>
          <a:p>
            <a:endParaRPr lang="en-US" sz="110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FC0B4-CED2-AA1B-FEAB-5DDBFDE4C721}"/>
              </a:ext>
            </a:extLst>
          </p:cNvPr>
          <p:cNvSpPr/>
          <p:nvPr/>
        </p:nvSpPr>
        <p:spPr>
          <a:xfrm>
            <a:off x="3009785" y="1267923"/>
            <a:ext cx="1918665" cy="1122697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>
                <a:latin typeface="Bahnschrift" panose="020B0502040204020203" pitchFamily="34" charset="0"/>
              </a:rPr>
              <a:t>2164</a:t>
            </a:r>
            <a:endParaRPr lang="en-US" sz="2000">
              <a:latin typeface="Bahnschrift" panose="020B0502040204020203" pitchFamily="34" charset="0"/>
            </a:endParaRPr>
          </a:p>
          <a:p>
            <a:pPr algn="ctr"/>
            <a:r>
              <a:rPr lang="en-US" sz="2000">
                <a:latin typeface="Bahnschrift" panose="020B0502040204020203" pitchFamily="34" charset="0"/>
              </a:rPr>
              <a:t>Judged by LLM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AFC58D-486A-4E82-357E-1A5DFFA6F587}"/>
              </a:ext>
            </a:extLst>
          </p:cNvPr>
          <p:cNvSpPr/>
          <p:nvPr/>
        </p:nvSpPr>
        <p:spPr>
          <a:xfrm>
            <a:off x="5588133" y="1276093"/>
            <a:ext cx="2680665" cy="1092202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>
                <a:latin typeface="Bahnschrift" panose="020B0502040204020203" pitchFamily="34" charset="0"/>
              </a:rPr>
              <a:t>39</a:t>
            </a:r>
            <a:r>
              <a:rPr lang="en-US" sz="2000">
                <a:latin typeface="Bahnschrift" panose="020B0502040204020203" pitchFamily="34" charset="0"/>
              </a:rPr>
              <a:t> </a:t>
            </a:r>
          </a:p>
          <a:p>
            <a:pPr algn="ctr"/>
            <a:r>
              <a:rPr lang="en-US" sz="2000">
                <a:latin typeface="Bahnschrift" panose="020B0502040204020203" pitchFamily="34" charset="0"/>
              </a:rPr>
              <a:t>Unique moderation actions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FA19EB-C249-F466-D81F-E04D5B35B6A8}"/>
              </a:ext>
            </a:extLst>
          </p:cNvPr>
          <p:cNvSpPr/>
          <p:nvPr/>
        </p:nvSpPr>
        <p:spPr>
          <a:xfrm>
            <a:off x="8778343" y="1298418"/>
            <a:ext cx="2331720" cy="1092202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800">
                <a:latin typeface="Bahnschrift" panose="020B0502040204020203" pitchFamily="34" charset="0"/>
              </a:rPr>
              <a:t>6492</a:t>
            </a:r>
            <a:endParaRPr lang="en-US" sz="2000">
              <a:latin typeface="Bahnschrift" panose="020B0502040204020203" pitchFamily="34" charset="0"/>
            </a:endParaRPr>
          </a:p>
          <a:p>
            <a:pPr algn="ctr"/>
            <a:r>
              <a:rPr lang="en-US" sz="2000">
                <a:latin typeface="Bahnschrift" panose="020B0502040204020203" pitchFamily="34" charset="0"/>
              </a:rPr>
              <a:t>Policy as prompt results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2F0B1E-131E-8513-9475-8A70C327822E}"/>
              </a:ext>
            </a:extLst>
          </p:cNvPr>
          <p:cNvSpPr/>
          <p:nvPr/>
        </p:nvSpPr>
        <p:spPr>
          <a:xfrm>
            <a:off x="675951" y="3061246"/>
            <a:ext cx="773964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ap_id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1FF730-A4E0-AE24-0093-3C1C1CBBA162}"/>
              </a:ext>
            </a:extLst>
          </p:cNvPr>
          <p:cNvSpPr/>
          <p:nvPr/>
        </p:nvSpPr>
        <p:spPr>
          <a:xfrm>
            <a:off x="1575573" y="3073270"/>
            <a:ext cx="1011928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>
                <a:latin typeface="Bahnschrift" panose="020B0502040204020203" pitchFamily="34" charset="0"/>
              </a:rPr>
              <a:t>platform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6A5C40-5289-2602-7008-F36478C061A6}"/>
              </a:ext>
            </a:extLst>
          </p:cNvPr>
          <p:cNvSpPr/>
          <p:nvPr/>
        </p:nvSpPr>
        <p:spPr>
          <a:xfrm>
            <a:off x="2750875" y="3057332"/>
            <a:ext cx="1011928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>
                <a:latin typeface="Bahnschrift" panose="020B0502040204020203" pitchFamily="34" charset="0"/>
              </a:rPr>
              <a:t>body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881833-1D39-BDB5-8535-AD014BB0D2AD}"/>
              </a:ext>
            </a:extLst>
          </p:cNvPr>
          <p:cNvSpPr/>
          <p:nvPr/>
        </p:nvSpPr>
        <p:spPr>
          <a:xfrm>
            <a:off x="3916522" y="3057332"/>
            <a:ext cx="1011928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>
                <a:latin typeface="Bahnschrift" panose="020B0502040204020203" pitchFamily="34" charset="0"/>
              </a:rPr>
              <a:t>title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992C55-3998-715F-1472-33223B4F21B7}"/>
              </a:ext>
            </a:extLst>
          </p:cNvPr>
          <p:cNvSpPr/>
          <p:nvPr/>
        </p:nvSpPr>
        <p:spPr>
          <a:xfrm>
            <a:off x="5082169" y="3057332"/>
            <a:ext cx="1011928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>
                <a:latin typeface="Bahnschrift" panose="020B0502040204020203" pitchFamily="34" charset="0"/>
              </a:rPr>
              <a:t>lang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84EA18-55C0-DF28-4D65-9B7C93833BFC}"/>
              </a:ext>
            </a:extLst>
          </p:cNvPr>
          <p:cNvSpPr/>
          <p:nvPr/>
        </p:nvSpPr>
        <p:spPr>
          <a:xfrm>
            <a:off x="6188208" y="3057332"/>
            <a:ext cx="1011928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has_media</a:t>
            </a:r>
            <a:endParaRPr lang="en-US" sz="1200">
              <a:latin typeface="Bahnschrift" panose="020B0502040204020203" pitchFamily="34" charset="0"/>
            </a:endParaRPr>
          </a:p>
          <a:p>
            <a:pPr algn="ctr"/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EBB695-A24F-351C-BEA0-4A50E9521248}"/>
              </a:ext>
            </a:extLst>
          </p:cNvPr>
          <p:cNvSpPr/>
          <p:nvPr/>
        </p:nvSpPr>
        <p:spPr>
          <a:xfrm>
            <a:off x="550293" y="3853344"/>
            <a:ext cx="5247003" cy="7970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err="1">
                <a:latin typeface="Bahnschrift" panose="020B0502040204020203" pitchFamily="34" charset="0"/>
              </a:rPr>
              <a:t>Moderation_observed</a:t>
            </a:r>
            <a:endParaRPr lang="en-US" sz="1100" b="1">
              <a:latin typeface="Bahnschrift" panose="020B0502040204020203" pitchFamily="34" charset="0"/>
            </a:endParaRPr>
          </a:p>
          <a:p>
            <a:endParaRPr lang="en-US" sz="1100">
              <a:latin typeface="Bahnschrift" panose="020B050204020402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C3A6FD-2F33-BD8F-DEA9-0CFEDCCB11AE}"/>
              </a:ext>
            </a:extLst>
          </p:cNvPr>
          <p:cNvSpPr/>
          <p:nvPr/>
        </p:nvSpPr>
        <p:spPr>
          <a:xfrm>
            <a:off x="675952" y="4189273"/>
            <a:ext cx="773964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post_id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07562A-5F94-1D3F-A088-1EE2A486E697}"/>
              </a:ext>
            </a:extLst>
          </p:cNvPr>
          <p:cNvSpPr/>
          <p:nvPr/>
        </p:nvSpPr>
        <p:spPr>
          <a:xfrm>
            <a:off x="1637764" y="4189273"/>
            <a:ext cx="1011928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Action_type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24904D-4563-3593-9E0C-111FA5A49391}"/>
              </a:ext>
            </a:extLst>
          </p:cNvPr>
          <p:cNvSpPr/>
          <p:nvPr/>
        </p:nvSpPr>
        <p:spPr>
          <a:xfrm>
            <a:off x="2761587" y="4189273"/>
            <a:ext cx="1282195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Mod_reason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2BDB8-F181-FF6E-8062-27F748FD4A41}"/>
              </a:ext>
            </a:extLst>
          </p:cNvPr>
          <p:cNvSpPr/>
          <p:nvPr/>
        </p:nvSpPr>
        <p:spPr>
          <a:xfrm>
            <a:off x="4164443" y="4189273"/>
            <a:ext cx="1282195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Observed_at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DDDA1E-5015-2AB3-F25E-F2E98C8B480F}"/>
              </a:ext>
            </a:extLst>
          </p:cNvPr>
          <p:cNvSpPr/>
          <p:nvPr/>
        </p:nvSpPr>
        <p:spPr>
          <a:xfrm>
            <a:off x="7523018" y="2721380"/>
            <a:ext cx="3587046" cy="87610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>
                <a:latin typeface="Bahnschrift" panose="020B0502040204020203" pitchFamily="34" charset="0"/>
              </a:rPr>
              <a:t>Media</a:t>
            </a:r>
            <a:endParaRPr lang="en-US" sz="1100" b="1">
              <a:latin typeface="Bahnschrift" panose="020B0502040204020203" pitchFamily="34" charset="0"/>
            </a:endParaRPr>
          </a:p>
          <a:p>
            <a:endParaRPr lang="en-US" sz="1100">
              <a:latin typeface="Bahnschrift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32C618-61DA-F8A8-AD50-E700ABD00EB7}"/>
              </a:ext>
            </a:extLst>
          </p:cNvPr>
          <p:cNvSpPr/>
          <p:nvPr/>
        </p:nvSpPr>
        <p:spPr>
          <a:xfrm>
            <a:off x="7725590" y="3050614"/>
            <a:ext cx="773964" cy="38843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post_id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932266-30BD-ADDB-A457-B33A79246411}"/>
              </a:ext>
            </a:extLst>
          </p:cNvPr>
          <p:cNvSpPr/>
          <p:nvPr/>
        </p:nvSpPr>
        <p:spPr>
          <a:xfrm>
            <a:off x="8618021" y="3050614"/>
            <a:ext cx="1011928" cy="38843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url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CE9BA7-1D52-9F17-F3E2-34E9EB12DF92}"/>
              </a:ext>
            </a:extLst>
          </p:cNvPr>
          <p:cNvSpPr/>
          <p:nvPr/>
        </p:nvSpPr>
        <p:spPr>
          <a:xfrm>
            <a:off x="9748416" y="3050614"/>
            <a:ext cx="1282195" cy="388434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Mime_type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070769-1A4E-9994-0F9B-3594D13BB414}"/>
              </a:ext>
            </a:extLst>
          </p:cNvPr>
          <p:cNvSpPr/>
          <p:nvPr/>
        </p:nvSpPr>
        <p:spPr>
          <a:xfrm>
            <a:off x="6096000" y="3853343"/>
            <a:ext cx="5014063" cy="7970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>
                <a:latin typeface="Bahnschrift" panose="020B0502040204020203" pitchFamily="34" charset="0"/>
              </a:rPr>
              <a:t>Policy simulation</a:t>
            </a:r>
            <a:endParaRPr lang="en-US" sz="1100" b="1">
              <a:latin typeface="Bahnschrift" panose="020B0502040204020203" pitchFamily="34" charset="0"/>
            </a:endParaRPr>
          </a:p>
          <a:p>
            <a:endParaRPr lang="en-US" sz="1100">
              <a:latin typeface="Bahnschrift" panose="020B0502040204020203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DE3B16-1FDA-D85B-E24D-70AE90F81E76}"/>
              </a:ext>
            </a:extLst>
          </p:cNvPr>
          <p:cNvSpPr/>
          <p:nvPr/>
        </p:nvSpPr>
        <p:spPr>
          <a:xfrm>
            <a:off x="6201595" y="4189273"/>
            <a:ext cx="773964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post_id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2920EC-9E1B-EC7B-CCFA-71F7B253CE54}"/>
              </a:ext>
            </a:extLst>
          </p:cNvPr>
          <p:cNvSpPr/>
          <p:nvPr/>
        </p:nvSpPr>
        <p:spPr>
          <a:xfrm>
            <a:off x="7100654" y="4189273"/>
            <a:ext cx="1011928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>
                <a:latin typeface="Bahnschrift" panose="020B0502040204020203" pitchFamily="34" charset="0"/>
              </a:rPr>
              <a:t>category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260C4F-014C-9BAF-ABAF-2E4306C34E64}"/>
              </a:ext>
            </a:extLst>
          </p:cNvPr>
          <p:cNvSpPr/>
          <p:nvPr/>
        </p:nvSpPr>
        <p:spPr>
          <a:xfrm>
            <a:off x="8253620" y="4189273"/>
            <a:ext cx="1282195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Meta_actions</a:t>
            </a:r>
            <a:endParaRPr lang="en-US" sz="1050">
              <a:latin typeface="Bahnschrift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7F0F7A-5114-6139-592B-F1263124BA81}"/>
              </a:ext>
            </a:extLst>
          </p:cNvPr>
          <p:cNvSpPr/>
          <p:nvPr/>
        </p:nvSpPr>
        <p:spPr>
          <a:xfrm>
            <a:off x="9676853" y="4189273"/>
            <a:ext cx="1282195" cy="36061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err="1">
                <a:latin typeface="Bahnschrift" panose="020B0502040204020203" pitchFamily="34" charset="0"/>
              </a:rPr>
              <a:t>X_action</a:t>
            </a:r>
            <a:endParaRPr lang="en-US" sz="1050">
              <a:latin typeface="Bahnschrift" panose="020B0502040204020203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9E67F19-B1E8-9DCC-CDB1-4ACA0905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375" y="4906272"/>
            <a:ext cx="8065296" cy="169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0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85"/>
    </mc:Choice>
    <mc:Fallback xmlns="">
      <p:transition spd="slow" advTm="387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6574-868D-5300-38FD-48996E098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8647F298-4049-C84A-640D-EC08A3D0E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A7E657-B688-F740-97A4-B68908705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6" y="1057342"/>
            <a:ext cx="11755491" cy="176237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E925F3-399C-CB2B-44E9-810AFE43F59A}"/>
              </a:ext>
            </a:extLst>
          </p:cNvPr>
          <p:cNvSpPr/>
          <p:nvPr/>
        </p:nvSpPr>
        <p:spPr>
          <a:xfrm>
            <a:off x="154246" y="1554480"/>
            <a:ext cx="10717970" cy="484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21BED2-70F3-A516-9132-747883489367}"/>
              </a:ext>
            </a:extLst>
          </p:cNvPr>
          <p:cNvSpPr/>
          <p:nvPr/>
        </p:nvSpPr>
        <p:spPr>
          <a:xfrm>
            <a:off x="5724144" y="1554480"/>
            <a:ext cx="1636776" cy="484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782655-B333-0210-551D-9D4600C5E1F0}"/>
              </a:ext>
            </a:extLst>
          </p:cNvPr>
          <p:cNvSpPr/>
          <p:nvPr/>
        </p:nvSpPr>
        <p:spPr>
          <a:xfrm>
            <a:off x="841249" y="4513578"/>
            <a:ext cx="10030967" cy="1832358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chemeClr val="bg1"/>
                </a:solidFill>
                <a:latin typeface="Bahnschrift" panose="020B0502040204020203" pitchFamily="34" charset="0"/>
              </a:rPr>
              <a:t>Across 6,490 verdicts:</a:t>
            </a:r>
          </a:p>
          <a:p>
            <a:pPr algn="ctr"/>
            <a:endParaRPr lang="en-US" b="1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Bahnschrift" panose="020B0502040204020203" pitchFamily="34" charset="0"/>
              </a:rPr>
              <a:t>X policy flagged 80 posts that Meta policy did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Bahnschrift" panose="020B0502040204020203" pitchFamily="34" charset="0"/>
              </a:rPr>
              <a:t>Platforms acted on 117 posts that neither LLM flagged, indicating platform moderation and category policy enforcement operate on different threat surfaces.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C474A7-3F1B-6529-AEFB-516F7909796A}"/>
              </a:ext>
            </a:extLst>
          </p:cNvPr>
          <p:cNvSpPr/>
          <p:nvPr/>
        </p:nvSpPr>
        <p:spPr>
          <a:xfrm>
            <a:off x="841249" y="3138127"/>
            <a:ext cx="4471415" cy="820422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>
                <a:solidFill>
                  <a:schemeClr val="bg1"/>
                </a:solidFill>
                <a:latin typeface="Bahnschrift" panose="020B0502040204020203" pitchFamily="34" charset="0"/>
              </a:rPr>
              <a:t>X catches way more than Meta on Bluesky violence and spam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7F60ED-20CC-63D4-E084-B5FE6FFE88C6}"/>
              </a:ext>
            </a:extLst>
          </p:cNvPr>
          <p:cNvSpPr/>
          <p:nvPr/>
        </p:nvSpPr>
        <p:spPr>
          <a:xfrm>
            <a:off x="6400801" y="3138127"/>
            <a:ext cx="4471415" cy="820422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>
                <a:solidFill>
                  <a:schemeClr val="bg1"/>
                </a:solidFill>
                <a:latin typeface="Bahnschrift" panose="020B0502040204020203" pitchFamily="34" charset="0"/>
              </a:rPr>
              <a:t>Platforms and LLMs are catching completely different content.</a:t>
            </a:r>
          </a:p>
        </p:txBody>
      </p:sp>
    </p:spTree>
    <p:extLst>
      <p:ext uri="{BB962C8B-B14F-4D97-AF65-F5344CB8AC3E}">
        <p14:creationId xmlns:p14="http://schemas.microsoft.com/office/powerpoint/2010/main" val="185233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152"/>
    </mc:Choice>
    <mc:Fallback xmlns="">
      <p:transition spd="slow" advTm="8815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035A1-99D7-1F88-ABE6-74E63260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76A486AE-24A9-3C05-47D2-31379A0FF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CB364F-3741-1A6D-5B13-0378A5C3C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00" y="982810"/>
            <a:ext cx="4430943" cy="19624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07A0C0-7CCC-CD6B-FAEA-4772AC43A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01" y="3340665"/>
            <a:ext cx="4430942" cy="3238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181310-2B21-1E58-FF7E-62900ABF9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9720" y="2596896"/>
            <a:ext cx="3261883" cy="41624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940FA0-C4AE-697E-F345-7A24E182DF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0901"/>
          <a:stretch>
            <a:fillRect/>
          </a:stretch>
        </p:blipFill>
        <p:spPr>
          <a:xfrm>
            <a:off x="5660861" y="684491"/>
            <a:ext cx="5563376" cy="170209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C483FE7-06A6-B59B-7BEC-F6D3D844CF16}"/>
              </a:ext>
            </a:extLst>
          </p:cNvPr>
          <p:cNvSpPr/>
          <p:nvPr/>
        </p:nvSpPr>
        <p:spPr>
          <a:xfrm>
            <a:off x="6199632" y="850391"/>
            <a:ext cx="5024605" cy="175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ECA08C-B15A-205A-35D2-4C2B155A8DD4}"/>
              </a:ext>
            </a:extLst>
          </p:cNvPr>
          <p:cNvSpPr/>
          <p:nvPr/>
        </p:nvSpPr>
        <p:spPr>
          <a:xfrm>
            <a:off x="7029904" y="3846575"/>
            <a:ext cx="2678986" cy="131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66ED9-AB89-4ADB-0200-E5CC9FB65C80}"/>
              </a:ext>
            </a:extLst>
          </p:cNvPr>
          <p:cNvSpPr/>
          <p:nvPr/>
        </p:nvSpPr>
        <p:spPr>
          <a:xfrm>
            <a:off x="7029904" y="2880360"/>
            <a:ext cx="2678986" cy="131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94CAD-C5D2-0F0D-7E65-75F4413C31DC}"/>
              </a:ext>
            </a:extLst>
          </p:cNvPr>
          <p:cNvSpPr/>
          <p:nvPr/>
        </p:nvSpPr>
        <p:spPr>
          <a:xfrm>
            <a:off x="7029904" y="4829076"/>
            <a:ext cx="2678986" cy="131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76F08-F915-8EBA-67B5-1D169587DBF0}"/>
              </a:ext>
            </a:extLst>
          </p:cNvPr>
          <p:cNvSpPr/>
          <p:nvPr/>
        </p:nvSpPr>
        <p:spPr>
          <a:xfrm>
            <a:off x="7029904" y="5811577"/>
            <a:ext cx="2678986" cy="131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B2CCD7-8EDB-9269-82F3-60C19D1E011F}"/>
              </a:ext>
            </a:extLst>
          </p:cNvPr>
          <p:cNvSpPr/>
          <p:nvPr/>
        </p:nvSpPr>
        <p:spPr>
          <a:xfrm>
            <a:off x="3070999" y="2635458"/>
            <a:ext cx="3958905" cy="785399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b="1">
              <a:latin typeface="Bahnschrift" panose="020B0502040204020203" pitchFamily="34" charset="0"/>
            </a:endParaRPr>
          </a:p>
          <a:p>
            <a:pPr algn="ctr"/>
            <a:r>
              <a:rPr lang="en-US" sz="2000">
                <a:latin typeface="Bahnschrift" panose="020B0502040204020203" pitchFamily="34" charset="0"/>
              </a:rPr>
              <a:t>X policy is sensitive to repetition</a:t>
            </a:r>
          </a:p>
        </p:txBody>
      </p:sp>
    </p:spTree>
    <p:extLst>
      <p:ext uri="{BB962C8B-B14F-4D97-AF65-F5344CB8AC3E}">
        <p14:creationId xmlns:p14="http://schemas.microsoft.com/office/powerpoint/2010/main" val="342816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763"/>
    </mc:Choice>
    <mc:Fallback xmlns="">
      <p:transition spd="slow" advTm="9976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6F46D-473F-E2C6-B9E2-683FCFEB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C4D9706-3896-1C70-0906-1A6202F08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447B4B-E638-D8AA-3A42-67CEF033C7B2}"/>
              </a:ext>
            </a:extLst>
          </p:cNvPr>
          <p:cNvSpPr/>
          <p:nvPr/>
        </p:nvSpPr>
        <p:spPr>
          <a:xfrm>
            <a:off x="5724144" y="1554480"/>
            <a:ext cx="1636776" cy="484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87EE15-6035-9E1F-A37E-254E45338429}"/>
              </a:ext>
            </a:extLst>
          </p:cNvPr>
          <p:cNvSpPr/>
          <p:nvPr/>
        </p:nvSpPr>
        <p:spPr>
          <a:xfrm>
            <a:off x="3006844" y="3773827"/>
            <a:ext cx="6658886" cy="2331117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chemeClr val="bg1"/>
                </a:solidFill>
                <a:latin typeface="Bahnschrift" panose="020B0502040204020203" pitchFamily="34" charset="0"/>
              </a:rPr>
              <a:t>From verdicts where both X and Meta agreed to remove while platform did not:</a:t>
            </a:r>
          </a:p>
          <a:p>
            <a:pPr algn="ctr"/>
            <a:endParaRPr lang="en-US" b="1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Bahnschrift" panose="020B0502040204020203" pitchFamily="34" charset="0"/>
              </a:rPr>
              <a:t>Only 3 are genuine violations.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bg1"/>
                </a:solidFill>
                <a:latin typeface="Bahnschrift" panose="020B0502040204020203" pitchFamily="34" charset="0"/>
              </a:rPr>
              <a:t>While 6 are just discussions about said 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Bahnschrift" panose="020B0502040204020203" pitchFamily="34" charset="0"/>
              </a:rPr>
              <a:t>The LLMs are too eager, the platforms are doing it right.</a:t>
            </a:r>
            <a:endParaRPr lang="en-US" b="1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118E74-ACD9-75CC-760B-559F0D312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15" y="753056"/>
            <a:ext cx="11736438" cy="257210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F50FDA-64BD-681F-9F42-8574CAAAF377}"/>
              </a:ext>
            </a:extLst>
          </p:cNvPr>
          <p:cNvSpPr/>
          <p:nvPr/>
        </p:nvSpPr>
        <p:spPr>
          <a:xfrm>
            <a:off x="1941816" y="850392"/>
            <a:ext cx="4154184" cy="24747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743913-DF68-E3BA-52ED-4CF7E32AE88F}"/>
              </a:ext>
            </a:extLst>
          </p:cNvPr>
          <p:cNvSpPr/>
          <p:nvPr/>
        </p:nvSpPr>
        <p:spPr>
          <a:xfrm>
            <a:off x="8959065" y="2774023"/>
            <a:ext cx="2941538" cy="2363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4E5FD-76B8-FF69-339D-9ACB625ECF43}"/>
              </a:ext>
            </a:extLst>
          </p:cNvPr>
          <p:cNvSpPr/>
          <p:nvPr/>
        </p:nvSpPr>
        <p:spPr>
          <a:xfrm>
            <a:off x="8959065" y="2537717"/>
            <a:ext cx="2941538" cy="2363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EFFB8-DB00-0E2D-6132-B64426095267}"/>
              </a:ext>
            </a:extLst>
          </p:cNvPr>
          <p:cNvSpPr/>
          <p:nvPr/>
        </p:nvSpPr>
        <p:spPr>
          <a:xfrm>
            <a:off x="8959065" y="1035978"/>
            <a:ext cx="2941538" cy="2363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7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369"/>
    </mc:Choice>
    <mc:Fallback xmlns="">
      <p:transition spd="slow" advTm="10536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68C6051C-F289-E854-69EF-148228F6D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</a:rPr>
              <a:t>Potential users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76CB0E-78C9-2833-1977-E9E88B823690}"/>
              </a:ext>
            </a:extLst>
          </p:cNvPr>
          <p:cNvSpPr/>
          <p:nvPr/>
        </p:nvSpPr>
        <p:spPr>
          <a:xfrm>
            <a:off x="612648" y="1069848"/>
            <a:ext cx="4901184" cy="2093976"/>
          </a:xfrm>
          <a:prstGeom prst="rect">
            <a:avLst/>
          </a:prstGeom>
          <a:solidFill>
            <a:srgbClr val="004D4E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rgbClr val="33E6CC"/>
                </a:solidFill>
                <a:latin typeface="Bahnschrift" panose="020B0502040204020203" pitchFamily="34" charset="0"/>
              </a:rPr>
              <a:t>Trust and Safety researchers </a:t>
            </a:r>
          </a:p>
          <a:p>
            <a:endParaRPr lang="en-US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Benchmark LLM moderation against hand labeled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Study policy text driven divergence.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3FDEB-516E-AB8E-705B-FBB3DBAD8D38}"/>
              </a:ext>
            </a:extLst>
          </p:cNvPr>
          <p:cNvSpPr/>
          <p:nvPr/>
        </p:nvSpPr>
        <p:spPr>
          <a:xfrm>
            <a:off x="6480048" y="1051560"/>
            <a:ext cx="4901184" cy="2112264"/>
          </a:xfrm>
          <a:prstGeom prst="rect">
            <a:avLst/>
          </a:prstGeom>
          <a:solidFill>
            <a:srgbClr val="004D4E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rgbClr val="BF6093"/>
                </a:solidFill>
                <a:latin typeface="Bahnschrift" panose="020B0502040204020203" pitchFamily="34" charset="0"/>
              </a:rPr>
              <a:t>ML engineers</a:t>
            </a:r>
          </a:p>
          <a:p>
            <a:endParaRPr lang="en-US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Training data for moderation classifiers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Evaluation set for safety models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469E2-0AB8-5334-7299-837C18183C8A}"/>
              </a:ext>
            </a:extLst>
          </p:cNvPr>
          <p:cNvSpPr/>
          <p:nvPr/>
        </p:nvSpPr>
        <p:spPr>
          <a:xfrm>
            <a:off x="612648" y="3864864"/>
            <a:ext cx="4901184" cy="1923288"/>
          </a:xfrm>
          <a:prstGeom prst="rect">
            <a:avLst/>
          </a:prstGeom>
          <a:solidFill>
            <a:srgbClr val="004D4E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rgbClr val="20E7FF"/>
                </a:solidFill>
                <a:latin typeface="Bahnschrift" panose="020B0502040204020203" pitchFamily="34" charset="0"/>
              </a:rPr>
              <a:t>Policy analysts</a:t>
            </a:r>
          </a:p>
          <a:p>
            <a:endParaRPr lang="en-US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Empirical comparison of X and Meta policies as they get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Evidence of platform content accountability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292D9B-BCF5-A177-9D2C-E09F6791DBF8}"/>
              </a:ext>
            </a:extLst>
          </p:cNvPr>
          <p:cNvSpPr/>
          <p:nvPr/>
        </p:nvSpPr>
        <p:spPr>
          <a:xfrm>
            <a:off x="6553200" y="3864864"/>
            <a:ext cx="4901184" cy="1923288"/>
          </a:xfrm>
          <a:prstGeom prst="rect">
            <a:avLst/>
          </a:prstGeom>
          <a:solidFill>
            <a:srgbClr val="004D4E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>
                <a:solidFill>
                  <a:srgbClr val="F2C67B"/>
                </a:solidFill>
                <a:latin typeface="Bahnschrift" panose="020B0502040204020203" pitchFamily="34" charset="0"/>
              </a:rPr>
              <a:t>Educators</a:t>
            </a:r>
          </a:p>
          <a:p>
            <a:endParaRPr lang="en-US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Case studies for AI ethics (epistemic integrity, technological determinism)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Bahnschrift" panose="020B0502040204020203" pitchFamily="34" charset="0"/>
              </a:rPr>
              <a:t>Moderation as sociotechnical problem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78E9178-6449-B5CB-8096-120342B4CB5C}"/>
              </a:ext>
            </a:extLst>
          </p:cNvPr>
          <p:cNvSpPr/>
          <p:nvPr/>
        </p:nvSpPr>
        <p:spPr>
          <a:xfrm>
            <a:off x="563118" y="1051405"/>
            <a:ext cx="99060" cy="2133121"/>
          </a:xfrm>
          <a:prstGeom prst="roundRect">
            <a:avLst>
              <a:gd name="adj" fmla="val 50000"/>
            </a:avLst>
          </a:prstGeom>
          <a:solidFill>
            <a:srgbClr val="33E6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9A994338-DE51-EEFA-5B81-1282EA324475}"/>
              </a:ext>
            </a:extLst>
          </p:cNvPr>
          <p:cNvSpPr/>
          <p:nvPr/>
        </p:nvSpPr>
        <p:spPr>
          <a:xfrm>
            <a:off x="561278" y="3864864"/>
            <a:ext cx="99060" cy="192328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93DD993-4418-55E7-B245-E7040959B57A}"/>
              </a:ext>
            </a:extLst>
          </p:cNvPr>
          <p:cNvSpPr/>
          <p:nvPr/>
        </p:nvSpPr>
        <p:spPr>
          <a:xfrm>
            <a:off x="6503670" y="3823768"/>
            <a:ext cx="99060" cy="2028203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BB9A9259-DF1F-C10C-CD4C-937C3D8B6879}"/>
              </a:ext>
            </a:extLst>
          </p:cNvPr>
          <p:cNvSpPr/>
          <p:nvPr/>
        </p:nvSpPr>
        <p:spPr>
          <a:xfrm>
            <a:off x="6469774" y="1040977"/>
            <a:ext cx="99060" cy="2133121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75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5CE9-93D4-A54E-46E4-487B4462D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BC72FF63-9F99-222E-E0B2-E6FAFE7A8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C2A286-3C5C-6016-2916-EA5CF9D1DBB6}"/>
              </a:ext>
            </a:extLst>
          </p:cNvPr>
          <p:cNvSpPr/>
          <p:nvPr/>
        </p:nvSpPr>
        <p:spPr>
          <a:xfrm>
            <a:off x="309970" y="1279000"/>
            <a:ext cx="3727774" cy="3050953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latin typeface="Bahnschrift" panose="020B0502040204020203" pitchFamily="34" charset="0"/>
              </a:rPr>
              <a:t>Format</a:t>
            </a:r>
          </a:p>
          <a:p>
            <a:endParaRPr lang="en-US" sz="2000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Singel SQLite DB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Schema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Collector scripts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LLM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9010B8-0E88-A715-64BC-6B28CC084B38}"/>
              </a:ext>
            </a:extLst>
          </p:cNvPr>
          <p:cNvSpPr/>
          <p:nvPr/>
        </p:nvSpPr>
        <p:spPr>
          <a:xfrm>
            <a:off x="4644914" y="1279000"/>
            <a:ext cx="3221668" cy="2049827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latin typeface="Bahnschrift" panose="020B0502040204020203" pitchFamily="34" charset="0"/>
              </a:rPr>
              <a:t>Included</a:t>
            </a:r>
          </a:p>
          <a:p>
            <a:endParaRPr lang="en-US" sz="2000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4164 unique posts from Bluesky and Lemmy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6000 LLM verdict</a:t>
            </a:r>
          </a:p>
          <a:p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15D2CD-0B9D-787B-19B4-4A413EC3BBCA}"/>
              </a:ext>
            </a:extLst>
          </p:cNvPr>
          <p:cNvSpPr/>
          <p:nvPr/>
        </p:nvSpPr>
        <p:spPr>
          <a:xfrm>
            <a:off x="8521694" y="1279000"/>
            <a:ext cx="3221668" cy="2789566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latin typeface="Bahnschrift" panose="020B0502040204020203" pitchFamily="34" charset="0"/>
              </a:rPr>
              <a:t>Excluded</a:t>
            </a:r>
          </a:p>
          <a:p>
            <a:endParaRPr lang="en-US" sz="2000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No author identifiers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No image bytes only URLs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No private user data</a:t>
            </a:r>
          </a:p>
          <a:p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15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693"/>
    </mc:Choice>
    <mc:Fallback xmlns="">
      <p:transition spd="slow" advTm="4769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E5BF-67D4-A09A-6A42-830900F32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157B8A-5AAC-D338-7E72-97EA6A7032B9}"/>
              </a:ext>
            </a:extLst>
          </p:cNvPr>
          <p:cNvSpPr/>
          <p:nvPr/>
        </p:nvSpPr>
        <p:spPr>
          <a:xfrm>
            <a:off x="309970" y="1226084"/>
            <a:ext cx="11443024" cy="4067508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2000" b="1">
              <a:latin typeface="Bahnschrift" panose="020B0502040204020203" pitchFamily="34" charset="0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F6676186-1BDC-3E92-2A58-A7570A43C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ACCESS RIGHTS AND ETHICS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9EC191-E059-0EFA-6160-7F4C62C5B259}"/>
              </a:ext>
            </a:extLst>
          </p:cNvPr>
          <p:cNvSpPr txBox="1"/>
          <p:nvPr/>
        </p:nvSpPr>
        <p:spPr>
          <a:xfrm>
            <a:off x="589167" y="1228476"/>
            <a:ext cx="11181640" cy="37755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All data collected via official public APIs: Bluesky AT Protocol and Lemmy API</a:t>
            </a:r>
            <a:endParaRPr lang="en-US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Polite collection using rate-limited requests at 0.5 seconds, along with a descriptive User Agent to identify the collector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Authentication is optional and is used only to surface some hidden moderation signals (Lemmy removal reasons, Bluesky Ozone labels)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Media is stored as URL and URL hashes only, image bytes are never downloaded to avoid local storage of graphic or illegal content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The database stores only the post content and platform moderation state, never any PII of the poster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Due to the sensitive nature of the content, handling is limited to research analysis, not redistribution</a:t>
            </a:r>
          </a:p>
        </p:txBody>
      </p:sp>
    </p:spTree>
    <p:extLst>
      <p:ext uri="{BB962C8B-B14F-4D97-AF65-F5344CB8AC3E}">
        <p14:creationId xmlns:p14="http://schemas.microsoft.com/office/powerpoint/2010/main" val="72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098"/>
    </mc:Choice>
    <mc:Fallback xmlns="">
      <p:transition spd="slow" advTm="4809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FB4CB-347D-4FE5-8E64-31588172A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AAB3C0-8161-6637-3013-66B7467F6F39}"/>
              </a:ext>
            </a:extLst>
          </p:cNvPr>
          <p:cNvSpPr/>
          <p:nvPr/>
        </p:nvSpPr>
        <p:spPr>
          <a:xfrm>
            <a:off x="447553" y="1077917"/>
            <a:ext cx="11443024" cy="4067508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2000" b="1" dirty="0">
              <a:latin typeface="Bahnschrift" panose="020B0502040204020203" pitchFamily="34" charset="0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E7719529-E0E5-591A-B66F-2F07AEACE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ISSUES AND LIMITATIONS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0F77D-89D3-B3AC-11DE-188E904A5AC8}"/>
              </a:ext>
            </a:extLst>
          </p:cNvPr>
          <p:cNvSpPr txBox="1"/>
          <p:nvPr/>
        </p:nvSpPr>
        <p:spPr>
          <a:xfrm>
            <a:off x="589167" y="1228476"/>
            <a:ext cx="11181640" cy="3359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Lemmy exposes an explicit </a:t>
            </a:r>
            <a:r>
              <a:rPr lang="en-US" err="1">
                <a:solidFill>
                  <a:srgbClr val="FFFFFF"/>
                </a:solidFill>
                <a:latin typeface="Bahnschrift"/>
              </a:rPr>
              <a:t>modlog</a:t>
            </a:r>
            <a:r>
              <a:rPr lang="en-US">
                <a:solidFill>
                  <a:srgbClr val="FFFFFF"/>
                </a:solidFill>
                <a:latin typeface="Bahnschrift"/>
              </a:rPr>
              <a:t> with removal reasons, but Bluesky has no </a:t>
            </a:r>
            <a:r>
              <a:rPr lang="en-US" err="1">
                <a:solidFill>
                  <a:srgbClr val="FFFFFF"/>
                </a:solidFill>
                <a:latin typeface="Bahnschrift"/>
              </a:rPr>
              <a:t>modlog</a:t>
            </a:r>
            <a:r>
              <a:rPr lang="en-US">
                <a:solidFill>
                  <a:srgbClr val="FFFFFF"/>
                </a:solidFill>
                <a:latin typeface="Bahnschrift"/>
              </a:rPr>
              <a:t>, so moderation must be inferred from Ozone labels and post tombstones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On Bluesky, it is difficult to distinguish a mod removal from a user deletion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Lemmy removal reasons are free-text, so keyword-based classification can result in false positives/negatives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English-only post collection limits true global moderation activity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Media URL hashes are pseudo </a:t>
            </a:r>
            <a:r>
              <a:rPr lang="en-US" err="1">
                <a:solidFill>
                  <a:srgbClr val="FFFFFF"/>
                </a:solidFill>
                <a:latin typeface="Bahnschrift"/>
              </a:rPr>
              <a:t>dedup</a:t>
            </a:r>
            <a:r>
              <a:rPr lang="en-US">
                <a:solidFill>
                  <a:srgbClr val="FFFFFF"/>
                </a:solidFill>
                <a:latin typeface="Bahnschrift"/>
              </a:rPr>
              <a:t> keys; the same image uploaded again can result in a different URL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Bahnschrift"/>
              </a:rPr>
              <a:t>Current analysis is limited only to text</a:t>
            </a:r>
          </a:p>
        </p:txBody>
      </p:sp>
    </p:spTree>
    <p:extLst>
      <p:ext uri="{BB962C8B-B14F-4D97-AF65-F5344CB8AC3E}">
        <p14:creationId xmlns:p14="http://schemas.microsoft.com/office/powerpoint/2010/main" val="219548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658"/>
    </mc:Choice>
    <mc:Fallback xmlns="">
      <p:transition spd="slow" advTm="5865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1B84-D92D-9B80-B7EC-4EB8E030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CAEB0B-4BE3-A05D-5D14-32611E2861F6}"/>
              </a:ext>
            </a:extLst>
          </p:cNvPr>
          <p:cNvSpPr/>
          <p:nvPr/>
        </p:nvSpPr>
        <p:spPr>
          <a:xfrm>
            <a:off x="309970" y="1226084"/>
            <a:ext cx="11443024" cy="4067508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2000" b="1">
              <a:latin typeface="Bahnschrift" panose="020B0502040204020203" pitchFamily="34" charset="0"/>
            </a:endParaRP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6770D30-FEE4-0745-AA97-A6E465874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FUTURE WORK 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D03F52-4349-E76A-B0BA-42A4FE4E7CE8}"/>
              </a:ext>
            </a:extLst>
          </p:cNvPr>
          <p:cNvSpPr txBox="1"/>
          <p:nvPr/>
        </p:nvSpPr>
        <p:spPr>
          <a:xfrm>
            <a:off x="589167" y="1228476"/>
            <a:ext cx="11181640" cy="3359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rgbClr val="FFFFFF"/>
                </a:solidFill>
                <a:latin typeface="Bahnschrift"/>
              </a:rPr>
              <a:t>Temporal Dimension</a:t>
            </a:r>
            <a:r>
              <a:rPr lang="en-US">
                <a:solidFill>
                  <a:srgbClr val="FFFFFF"/>
                </a:solidFill>
                <a:latin typeface="Bahnschrift"/>
              </a:rPr>
              <a:t>: Re-fetch posts to track how moderation states change over time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rgbClr val="FFFFFF"/>
                </a:solidFill>
                <a:latin typeface="Bahnschrift"/>
              </a:rPr>
              <a:t>Multimodal Analysis</a:t>
            </a:r>
            <a:r>
              <a:rPr lang="en-US">
                <a:solidFill>
                  <a:srgbClr val="FFFFFF"/>
                </a:solidFill>
                <a:latin typeface="Bahnschrift"/>
              </a:rPr>
              <a:t>: Download the media to enable image-based policy analysis and support true deduplication based on the hash of the image bytes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rgbClr val="FFFFFF"/>
                </a:solidFill>
                <a:latin typeface="Bahnschrift"/>
              </a:rPr>
              <a:t>Better Classification</a:t>
            </a:r>
            <a:r>
              <a:rPr lang="en-US">
                <a:solidFill>
                  <a:srgbClr val="FFFFFF"/>
                </a:solidFill>
                <a:latin typeface="Bahnschrift"/>
              </a:rPr>
              <a:t>: Integrate a trained model or LLM labeler to replace keyword matching for moderation reasons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rgbClr val="FFFFFF"/>
                </a:solidFill>
                <a:latin typeface="Bahnschrift"/>
              </a:rPr>
              <a:t>Validation</a:t>
            </a:r>
            <a:r>
              <a:rPr lang="en-US">
                <a:solidFill>
                  <a:srgbClr val="FFFFFF"/>
                </a:solidFill>
                <a:latin typeface="Bahnschrift"/>
              </a:rPr>
              <a:t>: LLM as a Judge can be implemented to compare the outputs of multiple models against human judgments for reliability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>
                <a:solidFill>
                  <a:srgbClr val="FFFFFF"/>
                </a:solidFill>
                <a:latin typeface="Bahnschrift"/>
              </a:rPr>
              <a:t>Multilingual Coverage</a:t>
            </a:r>
            <a:r>
              <a:rPr lang="en-US">
                <a:solidFill>
                  <a:srgbClr val="FFFFFF"/>
                </a:solidFill>
                <a:latin typeface="Bahnschrift"/>
              </a:rPr>
              <a:t>: Extend support for data collection beyond English</a:t>
            </a:r>
          </a:p>
        </p:txBody>
      </p:sp>
    </p:spTree>
    <p:extLst>
      <p:ext uri="{BB962C8B-B14F-4D97-AF65-F5344CB8AC3E}">
        <p14:creationId xmlns:p14="http://schemas.microsoft.com/office/powerpoint/2010/main" val="84839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227"/>
    </mc:Choice>
    <mc:Fallback xmlns="">
      <p:transition spd="slow" advTm="4922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9CBCD-32CC-CB2D-8C6E-44F410599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7FB5D02-FBEC-40BA-190B-1026AC0C3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535" y="278383"/>
            <a:ext cx="7152035" cy="572009"/>
          </a:xfrm>
        </p:spPr>
        <p:txBody>
          <a:bodyPr>
            <a:noAutofit/>
          </a:bodyPr>
          <a:lstStyle/>
          <a:p>
            <a:r>
              <a:rPr lang="en-US" sz="3600" u="none"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3600" u="none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31F37-452F-B24E-40C7-CE04EE8CAD14}"/>
              </a:ext>
            </a:extLst>
          </p:cNvPr>
          <p:cNvSpPr/>
          <p:nvPr/>
        </p:nvSpPr>
        <p:spPr>
          <a:xfrm>
            <a:off x="966137" y="1945750"/>
            <a:ext cx="3727774" cy="2670510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000" b="1" dirty="0">
                <a:latin typeface="Bahnschrift"/>
              </a:rPr>
              <a:t>Ari </a:t>
            </a:r>
            <a:r>
              <a:rPr lang="en-US" sz="2000" b="1" dirty="0" err="1">
                <a:latin typeface="Bahnschrift"/>
              </a:rPr>
              <a:t>Munkhtur</a:t>
            </a:r>
            <a:endParaRPr lang="en-US" sz="2000" b="1" dirty="0" err="1">
              <a:latin typeface="Bahnschrift" panose="020B0502040204020203" pitchFamily="34" charset="0"/>
            </a:endParaRPr>
          </a:p>
          <a:p>
            <a:pPr algn="ctr"/>
            <a:endParaRPr lang="en-US" sz="2000" b="1" dirty="0">
              <a:latin typeface="Bahnschrift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Bahnschrift"/>
                <a:ea typeface="Calibri"/>
                <a:cs typeface="Calibri"/>
              </a:rPr>
              <a:t>LLM policy simulation pipeline (Meta + X)</a:t>
            </a:r>
            <a:endParaRPr lang="en-US">
              <a:latin typeface="Bahnschrif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Bahnschrift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Bahnschrift"/>
                <a:ea typeface="Calibri"/>
                <a:cs typeface="Calibri"/>
              </a:rPr>
              <a:t>SQLite schema </a:t>
            </a:r>
            <a:endParaRPr lang="en-US">
              <a:latin typeface="Bahnschrift"/>
            </a:endParaRPr>
          </a:p>
          <a:p>
            <a:endParaRPr lang="en-US" dirty="0">
              <a:latin typeface="Bahnschrift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Bahnschrift"/>
                <a:ea typeface="Calibri"/>
                <a:cs typeface="Calibri"/>
              </a:rPr>
              <a:t>LLM operations  on dataset </a:t>
            </a:r>
          </a:p>
          <a:p>
            <a:endParaRPr lang="en-US" sz="2000" b="1" dirty="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Bahnschrift" panose="020B0502040204020203" pitchFamily="34" charset="0"/>
            </a:endParaRPr>
          </a:p>
          <a:p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E1BADA-28F9-8EF3-B1C5-8B1A7A06D6EF}"/>
              </a:ext>
            </a:extLst>
          </p:cNvPr>
          <p:cNvSpPr/>
          <p:nvPr/>
        </p:nvSpPr>
        <p:spPr>
          <a:xfrm>
            <a:off x="7337303" y="1945750"/>
            <a:ext cx="3727774" cy="2670510"/>
          </a:xfrm>
          <a:prstGeom prst="rect">
            <a:avLst/>
          </a:prstGeom>
          <a:solidFill>
            <a:srgbClr val="004D4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000" b="1">
                <a:latin typeface="Bahnschrift"/>
              </a:rPr>
              <a:t>Jayesh Bane</a:t>
            </a:r>
            <a:endParaRPr lang="en-US" sz="2000" b="1">
              <a:latin typeface="Bahnschrift" panose="020B0502040204020203" pitchFamily="34" charset="0"/>
            </a:endParaRPr>
          </a:p>
          <a:p>
            <a:endParaRPr lang="en-US" sz="2000" b="1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/>
              </a:rPr>
              <a:t>Data acquisition lead </a:t>
            </a: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Bahnschrif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 panose="020B0502040204020203" pitchFamily="34" charset="0"/>
              </a:rPr>
              <a:t>Schema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>
                <a:latin typeface="Bahnschrift"/>
              </a:rPr>
              <a:t>Collector scripts</a:t>
            </a: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92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886"/>
    </mc:Choice>
    <mc:Fallback xmlns="">
      <p:transition spd="slow" advTm="84886"/>
    </mc:Fallback>
  </mc:AlternateContent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{183B629D-F585-4A0E-914F-411A2B2FB8B3}e68b7f07-47f1-4c94-a1ca-e7d736a42cf8-TF86f18fb6-1448-4a46-9973-da86b5b4a1df94418399_win32</Template>
  <TotalTime>0</TotalTime>
  <Words>976</Words>
  <Application>Microsoft Office PowerPoint</Application>
  <PresentationFormat>Widescreen</PresentationFormat>
  <Paragraphs>227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Aptos Light</vt:lpstr>
      <vt:lpstr>Arial</vt:lpstr>
      <vt:lpstr>Arial,Sans-Serif</vt:lpstr>
      <vt:lpstr>Bahnschrift</vt:lpstr>
      <vt:lpstr>Calibri</vt:lpstr>
      <vt:lpstr>Consolas</vt:lpstr>
      <vt:lpstr>Courier New</vt:lpstr>
      <vt:lpstr>Trebuchet MS</vt:lpstr>
      <vt:lpstr>BoldUnderlinesKeynote</vt:lpstr>
      <vt:lpstr>Cross Platform Content Moderation</vt:lpstr>
      <vt:lpstr>THE QUESTION</vt:lpstr>
      <vt:lpstr>Data sources</vt:lpstr>
      <vt:lpstr>Acquiring the data</vt:lpstr>
      <vt:lpstr>Dataset constructed</vt:lpstr>
      <vt:lpstr>KEY FINDINGS</vt:lpstr>
      <vt:lpstr>KEY FINDINGS</vt:lpstr>
      <vt:lpstr>KEY FINDINGS</vt:lpstr>
      <vt:lpstr>Potential users</vt:lpstr>
      <vt:lpstr>DISTRIBUTION</vt:lpstr>
      <vt:lpstr>ACCESS RIGHTS AND ETHICS</vt:lpstr>
      <vt:lpstr>ISSUES AND LIMITATIONS</vt:lpstr>
      <vt:lpstr>FUTURE WORK </vt:lpstr>
      <vt:lpstr>Team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 M</dc:creator>
  <cp:lastModifiedBy>Ari M</cp:lastModifiedBy>
  <cp:revision>311</cp:revision>
  <dcterms:created xsi:type="dcterms:W3CDTF">2026-06-06T14:00:00Z</dcterms:created>
  <dcterms:modified xsi:type="dcterms:W3CDTF">2026-06-08T01:34:34Z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